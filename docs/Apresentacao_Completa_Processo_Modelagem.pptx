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Processo de Modelagem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Como os Dados Viram Predição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971800"/>
            <a:ext cx="41148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227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Apresentação técnica completa, para especialistas — sem trechos de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89199"/>
                </a:solidFill>
                <a:latin typeface="Calibri"/>
              </a:rPr>
              <a:t>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Agenda — 5 Perguntas Centrais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48640" cy="548640"/>
          </a:xfrm>
          <a:prstGeom prst="round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Como os dados estão organizados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548640" cy="548640"/>
          </a:xfrm>
          <a:prstGeom prst="roundRect">
            <a:avLst/>
          </a:prstGeom>
          <a:solidFill>
            <a:srgbClr val="2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7744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O que o modelo de ML está predizendo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46120"/>
            <a:ext cx="548640" cy="548640"/>
          </a:xfrm>
          <a:prstGeom prst="round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461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Como foi feito o treino e a validação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14800"/>
            <a:ext cx="548640" cy="548640"/>
          </a:xfrm>
          <a:prstGeom prst="roundRect">
            <a:avLst/>
          </a:prstGeom>
          <a:solidFill>
            <a:srgbClr val="2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1480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Importância das variáveis do Random Forest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983480"/>
            <a:ext cx="548640" cy="548640"/>
          </a:xfrm>
          <a:prstGeom prst="round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834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8348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Como as predições são feitas por trecho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C9A227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Como os Dados Estão Organizados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B8CCDE"/>
                </a:solidFill>
                <a:latin typeface="Calibri"/>
              </a:rPr>
              <a:t>Arquitetura de agregação: da medição pontual à linha de treino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Arquitetura de Dados (Medallion)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5697A"/>
                </a:solidFill>
                <a:latin typeface="Calibri"/>
              </a:rPr>
              <a:t>Três camadas de agregação progressiva — cada uma resume mais que a anterior, sempre preservando a proveniência do dado.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520440" cy="1965960"/>
          </a:xfrm>
          <a:prstGeom prst="roundRect">
            <a:avLst/>
          </a:prstGeom>
          <a:solidFill>
            <a:srgbClr val="FDF6E0"/>
          </a:solidFill>
          <a:ln w="222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F2E44"/>
                </a:solidFill>
                <a:latin typeface="Calibri"/>
              </a:rPr>
              <a:t>BRONZE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97A"/>
                </a:solidFill>
                <a:latin typeface="Calibri"/>
              </a:rPr>
              <a:t>Espelho fiel da fonte bruta + proveniência (origem do dado e do arquivo-fonte)</a:t>
            </a:r>
          </a:p>
        </p:txBody>
      </p:sp>
      <p:sp>
        <p:nvSpPr>
          <p:cNvPr id="10" name="Chevron 9"/>
          <p:cNvSpPr/>
          <p:nvPr/>
        </p:nvSpPr>
        <p:spPr>
          <a:xfrm>
            <a:off x="4251960" y="2903220"/>
            <a:ext cx="228600" cy="365760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2103120"/>
            <a:ext cx="3520440" cy="1965960"/>
          </a:xfrm>
          <a:prstGeom prst="roundRect">
            <a:avLst/>
          </a:prstGeom>
          <a:solidFill>
            <a:srgbClr val="E8F0FA"/>
          </a:solidFill>
          <a:ln w="222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2860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F2E44"/>
                </a:solidFill>
                <a:latin typeface="Calibri"/>
              </a:rPr>
              <a:t>SILVER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78892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97A"/>
                </a:solidFill>
                <a:latin typeface="Calibri"/>
              </a:rPr>
              <a:t>Schema único, limpo — granularidade por posto/estação/trecho</a:t>
            </a:r>
          </a:p>
        </p:txBody>
      </p:sp>
      <p:sp>
        <p:nvSpPr>
          <p:cNvPr id="14" name="Chevron 13"/>
          <p:cNvSpPr/>
          <p:nvPr/>
        </p:nvSpPr>
        <p:spPr>
          <a:xfrm>
            <a:off x="8092440" y="2903220"/>
            <a:ext cx="228600" cy="365760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2103120"/>
            <a:ext cx="3520440" cy="1965960"/>
          </a:xfrm>
          <a:prstGeom prst="roundRect">
            <a:avLst/>
          </a:prstGeom>
          <a:solidFill>
            <a:srgbClr val="E4F3E8"/>
          </a:solidFill>
          <a:ln w="22225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2860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F2E44"/>
                </a:solidFill>
                <a:latin typeface="Calibri"/>
              </a:rPr>
              <a:t>GOLD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78892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97A"/>
                </a:solidFill>
                <a:latin typeface="Calibri"/>
              </a:rPr>
              <a:t>Agregações finais por trecho/ano — consumidas por ML, ABM e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89120"/>
            <a:ext cx="10835640" cy="141732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53712"/>
            <a:ext cx="10195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5FA8"/>
                </a:solidFill>
                <a:latin typeface="Calibri"/>
              </a:rPr>
              <a:t>Implementação: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65192"/>
            <a:ext cx="1019556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0F2E44"/>
                </a:solidFill>
                <a:latin typeface="Calibri"/>
              </a:rPr>
              <a:t>Implementada com tabelas Delta reais (log de transação ACID, particionamento físico por trecho) — orquestrador único executa Bronze → conectores em tempo real → Silver → Gold, com execução automática a cada atualização.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Funil de Agregação: da Medição Pontual à Linha de Treino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487853" cy="2331720"/>
          </a:xfrm>
          <a:prstGeom prst="roundRect">
            <a:avLst/>
          </a:prstGeom>
          <a:solidFill>
            <a:srgbClr val="FDF6E0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2135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0F2E44"/>
                </a:solidFill>
                <a:latin typeface="Calibri"/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42032"/>
            <a:ext cx="226839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5697A"/>
                </a:solidFill>
                <a:latin typeface="Calibri"/>
              </a:rPr>
              <a:t>1 linha = 1 estação,
1 data, 1 parâmetro
(formato longo)</a:t>
            </a:r>
          </a:p>
        </p:txBody>
      </p:sp>
      <p:sp>
        <p:nvSpPr>
          <p:cNvPr id="9" name="Chevron 8"/>
          <p:cNvSpPr/>
          <p:nvPr/>
        </p:nvSpPr>
        <p:spPr>
          <a:xfrm>
            <a:off x="2990773" y="2811780"/>
            <a:ext cx="411480" cy="365760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02253" y="1828800"/>
            <a:ext cx="2487853" cy="233172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9413" y="2011680"/>
            <a:ext cx="22135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0F2E44"/>
                </a:solidFill>
                <a:latin typeface="Calibri"/>
              </a:rPr>
              <a:t>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981" y="2542032"/>
            <a:ext cx="226839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5697A"/>
                </a:solidFill>
                <a:latin typeface="Calibri"/>
              </a:rPr>
              <a:t>1 linha = 1 posto,
1 mês (média)
Tabelas de vazão e chuva</a:t>
            </a:r>
          </a:p>
        </p:txBody>
      </p:sp>
      <p:sp>
        <p:nvSpPr>
          <p:cNvPr id="13" name="Chevron 12"/>
          <p:cNvSpPr/>
          <p:nvPr/>
        </p:nvSpPr>
        <p:spPr>
          <a:xfrm>
            <a:off x="5890107" y="2811780"/>
            <a:ext cx="411480" cy="365760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1587" y="1828800"/>
            <a:ext cx="2487853" cy="233172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8747" y="2011680"/>
            <a:ext cx="22135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0F2E44"/>
                </a:solidFill>
                <a:latin typeface="Calibri"/>
              </a:rPr>
              <a:t>Gold (mês)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1315" y="2542032"/>
            <a:ext cx="226839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5697A"/>
                </a:solidFill>
                <a:latin typeface="Calibri"/>
              </a:rPr>
              <a:t>1 linha = 1 trecho,
1 mês
Tabela mensal (exibição)</a:t>
            </a:r>
          </a:p>
        </p:txBody>
      </p:sp>
      <p:sp>
        <p:nvSpPr>
          <p:cNvPr id="17" name="Chevron 16"/>
          <p:cNvSpPr/>
          <p:nvPr/>
        </p:nvSpPr>
        <p:spPr>
          <a:xfrm>
            <a:off x="8789441" y="2811780"/>
            <a:ext cx="411480" cy="365760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00921" y="1828800"/>
            <a:ext cx="2487853" cy="2331720"/>
          </a:xfrm>
          <a:prstGeom prst="roundRect">
            <a:avLst/>
          </a:prstGeom>
          <a:solidFill>
            <a:srgbClr val="E4F3E8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8081" y="2011680"/>
            <a:ext cx="221353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0F2E44"/>
                </a:solidFill>
                <a:latin typeface="Calibri"/>
              </a:rPr>
              <a:t>Gold (ano)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0649" y="2542032"/>
            <a:ext cx="226839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55697A"/>
                </a:solidFill>
                <a:latin typeface="Calibri"/>
              </a:rPr>
              <a:t>1 linha = 1 trecho,
1 ano
Tabela anual (treino do modelo)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3484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55697A"/>
                </a:solidFill>
                <a:latin typeface="Calibri"/>
              </a:rPr>
              <a:t>Vazão e chuva permanecem redes físicas separadas até a agregação por trecho.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74920"/>
            <a:ext cx="11185855" cy="1234440"/>
          </a:xfrm>
          <a:prstGeom prst="roundRect">
            <a:avLst/>
          </a:prstGeom>
          <a:solidFill>
            <a:srgbClr val="E4F3E8"/>
          </a:solidFill>
          <a:ln w="19050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39512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F9E4F"/>
                </a:solidFill>
                <a:latin typeface="Calibri"/>
              </a:rPr>
              <a:t>Por que anual: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50992"/>
            <a:ext cx="10545775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B5E30"/>
                </a:solidFill>
                <a:latin typeface="Calibri"/>
              </a:rPr>
              <a:t>A qualidade da água (IQA, OD) só existe na fonte real em granularidade ANUAL — por isso a linha final de treino também é anual, nunca mensal.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Classificação Espacial: Trechos e Uso do Solo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9728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Trechos — </a:t>
            </a:r>
            <a:r>
              <a:rPr sz="1500">
                <a:solidFill>
                  <a:srgbClr val="1A1A1A"/>
                </a:solidFill>
                <a:latin typeface="Calibri"/>
              </a:rPr>
              <a:t>32 estações reais de monitoramento classificadas em Alto/Médio/Baixo Tietê por posição geográfica real ao longo do curso do rio.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Uso do solo — </a:t>
            </a:r>
            <a:r>
              <a:rPr sz="1500">
                <a:solidFill>
                  <a:srgbClr val="1A1A1A"/>
                </a:solidFill>
                <a:latin typeface="Calibri"/>
              </a:rPr>
              <a:t>sem delimitação de sub-bacia disponível, a geometria usada é a união de buffers de 5 km ao redor das estações reais de cada trecho — um proxy da vizinhança de monitoramento, não a bacia de drenagem a montante.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F2E44"/>
                </a:solidFill>
                <a:latin typeface="Calibri"/>
              </a:rPr>
              <a:t>Cobertura real de estações por trecho: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2336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Alto Tietê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4041648"/>
            <a:ext cx="4114800" cy="27432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00507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97A"/>
                </a:solidFill>
                <a:latin typeface="Calibri"/>
              </a:rPr>
              <a:t>10 estações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8056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Médio Tietê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4498848"/>
            <a:ext cx="8229600" cy="274320"/>
          </a:xfrm>
          <a:prstGeom prst="rect">
            <a:avLst/>
          </a:prstGeom>
          <a:solidFill>
            <a:srgbClr val="2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0" y="446227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97A"/>
                </a:solidFill>
                <a:latin typeface="Calibri"/>
              </a:rPr>
              <a:t>20 estações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93776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Baixo Tietê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4956048"/>
            <a:ext cx="82296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4919472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5697A"/>
                </a:solidFill>
                <a:latin typeface="Calibri"/>
              </a:rPr>
              <a:t>2 estações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235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5697A"/>
                </a:solidFill>
                <a:latin typeface="Calibri"/>
              </a:rPr>
              <a:t>Consequência direta: a geometria de uso do solo do Baixo Tietê é necessariamente mais esparsa — limitação documentada, não escondida.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Matriz Final de Preditoras (Modelo de Produção)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417320"/>
          <a:ext cx="106070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754880"/>
                <a:gridCol w="3474720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Grupo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Preditoras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Fonte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Temporal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Ano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Derivado — tendência secular real (Mann-Kendall significativa)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Hidrológica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Vazão média · Chuva média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ANA/SNIRH (vazão removida no Baixo Tietê)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Uso do solo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% natural · % agropecuária · % urbano-industrial · % água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MapBiomas real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Autocorrelação (IQA)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Defasagens de 1, 2, 3 anos + média móvel de 5 anos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Série real CETESB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</a:rPr>
                        <a:t>Autocorrelação (OD)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Defasagens de 1, 2, 3 anos + média móvel de 5 anos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A1A1A"/>
                          </a:solidFill>
                        </a:rPr>
                        <a:t>Série real CETESB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5697A"/>
                </a:solidFill>
                <a:latin typeface="Calibri"/>
              </a:rPr>
              <a:t>14 preditoras no total, específicas por trecho (Alto/Médio/Baixo) — nunca uma matriz única misturando os três.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C9A227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O que o Modelo de ML Está Predizendo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B8CCDE"/>
                </a:solidFill>
                <a:latin typeface="Calibri"/>
              </a:rPr>
              <a:t>As duas variáveis-alvo, a granularidade da previsão, e os dois regimes de 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As Duas Variáveis-Alvo — O que São, o que NÃO 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532120" cy="493776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5FA8"/>
                </a:solidFill>
                <a:latin typeface="Calibri"/>
              </a:rPr>
              <a:t>IQA — Índice de Qualidade da Água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Um proxy simplificado calculado a partir de Oxigênio Dissolvido e DBO reais (0,6×OD normalizado + 0,4×DBO normalizado). É ESTE valor — não o índice oficial de 9 parâmetros — que o modelo aprende a prever.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4983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C0392B"/>
                </a:solidFill>
                <a:latin typeface="Calibri"/>
              </a:rPr>
              <a:t>NÃO é: o IQA oficial CETESB/NSF-WQI (que pondera 9 parâmetros: OD, coliformes, pH, DBO, temperatura, nitrogênio, fósforo, turbidez, sólidos totais).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532120" cy="4937760"/>
          </a:xfrm>
          <a:prstGeom prst="roundRect">
            <a:avLst/>
          </a:prstGeom>
          <a:solidFill>
            <a:srgbClr val="E4F3E8"/>
          </a:solidFill>
          <a:ln w="19050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8132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9E4F"/>
                </a:solidFill>
                <a:latin typeface="Calibri"/>
              </a:rPr>
              <a:t>OD — Oxigênio Dissolvido (mg/L)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9834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A concentração real medida de oxigênio dissolvido na água, em mg/L — a mesma grandeza física reportada pela CETESB, sem transformação.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49834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1B5E30"/>
                </a:solidFill>
                <a:latin typeface="Calibri"/>
              </a:rPr>
              <a:t>NÃO é previsto: DBO, metais pesados, pesticidas, uso do solo, vazão ou qualquer outro parâmetro — o modelo tem exatamente 2 saídas, sempre as mesmas duas.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Granularidade da Previsão: o que Entra, o que 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5697A"/>
                </a:solidFill>
                <a:latin typeface="Calibri"/>
              </a:rPr>
              <a:t>Cada execução do modelo produz UM único par de números — nunca uma previsão por estação, nunca uma previsão mensal.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383280" cy="329184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F5FA8"/>
                </a:solidFill>
                <a:latin typeface="Calibri"/>
              </a:rPr>
              <a:t>ENTRADA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2926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Um trecho específico
(Alto, Médio ou Baixo)
+
Um ano específico
+
14 preditoras daquele
trecho/ano (Seção 1)</a:t>
            </a:r>
          </a:p>
        </p:txBody>
      </p:sp>
      <p:sp>
        <p:nvSpPr>
          <p:cNvPr id="10" name="Chevron 9"/>
          <p:cNvSpPr/>
          <p:nvPr/>
        </p:nvSpPr>
        <p:spPr>
          <a:xfrm>
            <a:off x="4114800" y="3429000"/>
            <a:ext cx="594360" cy="457200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92040" y="2011680"/>
            <a:ext cx="2743200" cy="3291840"/>
          </a:xfrm>
          <a:prstGeom prst="roundRect">
            <a:avLst/>
          </a:prstGeom>
          <a:solidFill>
            <a:srgbClr val="FDF6E0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2194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227"/>
                </a:solidFill>
                <a:latin typeface="Calibri"/>
              </a:rPr>
              <a:t>MODELO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743200"/>
            <a:ext cx="23774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O Random Forest
JÁ TREINADO
daquele trecho
específico
(3 trechos =
3 modelos distintos,
ver Seção 5)</a:t>
            </a:r>
          </a:p>
        </p:txBody>
      </p:sp>
      <p:sp>
        <p:nvSpPr>
          <p:cNvPr id="14" name="Chevron 13"/>
          <p:cNvSpPr/>
          <p:nvPr/>
        </p:nvSpPr>
        <p:spPr>
          <a:xfrm>
            <a:off x="7772400" y="3429000"/>
            <a:ext cx="594360" cy="457200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03920" y="2011680"/>
            <a:ext cx="3108960" cy="3291840"/>
          </a:xfrm>
          <a:prstGeom prst="roundRect">
            <a:avLst/>
          </a:prstGeom>
          <a:solidFill>
            <a:srgbClr val="E4F3E8"/>
          </a:solidFill>
          <a:ln w="19050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219456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F9E4F"/>
                </a:solidFill>
                <a:latin typeface="Calibri"/>
              </a:rPr>
              <a:t>SAÍDA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743200"/>
            <a:ext cx="2651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1 valor de IQA
previsto
+
1 valor de OD
previsto
(para aquele
trecho, naquele ano)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32120"/>
            <a:ext cx="11064240" cy="914400"/>
          </a:xfrm>
          <a:prstGeom prst="roundRect">
            <a:avLst/>
          </a:prstGeom>
          <a:solidFill>
            <a:srgbClr val="FBF3DD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696712"/>
            <a:ext cx="10424160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450A"/>
                </a:solidFill>
                <a:latin typeface="Calibri"/>
              </a:rPr>
              <a:t>É uma REGRESSÃO (valor contínuo), não uma classificação — o modelo nunca responde "bom"/"ruim", sempre um número.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Dois Regimes de Uso do Modelo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532120" cy="466344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F5FA8"/>
                </a:solidFill>
                <a:latin typeface="Calibri"/>
              </a:rPr>
              <a:t>Regime 1 — Avaliação / Validação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9834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O modelo prevê IQA/OD para um ANO QUE JÁ TEM dado real medido (anos ≥ 2015, ou cada fold do walk-forward).
Objetivo: comparar a previsão com o valor real já conhecido e medir o erro (MAE) — é assim que sabemos se o modelo funciona.
Todas as preditoras de entrada (vazão, chuva, uso do solo, lags) são valores REAIS medidos naquele 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532120" cy="4663440"/>
          </a:xfrm>
          <a:prstGeom prst="roundRect">
            <a:avLst/>
          </a:prstGeom>
          <a:solidFill>
            <a:srgbClr val="E4F3E8"/>
          </a:solidFill>
          <a:ln w="19050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F9E4F"/>
                </a:solidFill>
                <a:latin typeface="Calibri"/>
              </a:rPr>
              <a:t>Regime 2 — Previsão Real do Futuro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9834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B5E30"/>
                </a:solidFill>
                <a:latin typeface="Calibri"/>
              </a:rPr>
              <a:t>O modelo prevê IQA/OD para um ANO QUE AINDA NÃO ACONTECEU — não existe dado real nenhum para comparar.
Vazão/chuva futuras = média climatológica dos últimos 10 anos do trecho. Os lags de IQA/OD usam a PRÓPRIA previsão do ano anterior (recursivo — ver Seção 5).
Objetivo: dashboard "Cenários Futuros" — projeção estatística rápida, alternativa ao cálculo determinístico do modelo baseado em agentes.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C9A227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Treino e Validação do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B8CCDE"/>
                </a:solidFill>
                <a:latin typeface="Calibri"/>
              </a:rPr>
              <a:t>Arquitetura Random Forest, busca de hiperparâmetros e métricas reais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Arquitetura do Modelo: Random Forest por Trecho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5697A"/>
                </a:solidFill>
                <a:latin typeface="Calibri"/>
              </a:rPr>
              <a:t>3 modelos de Random Forest independentes (Alto/Médio/Baixo) por variável-alvo (IQA, OD) — 6 modelos no total. Um modelo único com o trecho como variável categórica teve R² negativo em toda transferência cruzada entre trechos.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3040" y="2331720"/>
          <a:ext cx="92354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5394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Hiperparâmetro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Grade de busca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Número de árvores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100 · 200 · 300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Profundidade máxima de cada árvore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3 · 4 · 6 · sem limite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Mínimo de amostras por folha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1 · 2 · 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</a:rPr>
                        <a:t>Fração de variáveis avaliada por divisão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raiz quadrada · 50% ·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1">
                <a:solidFill>
                  <a:srgbClr val="55697A"/>
                </a:solidFill>
                <a:latin typeface="Calibri"/>
              </a:rPr>
              <a:t>Busca em grade com validação cruzada de 5 partições, otimizando o erro absoluto médio (MAE). Grade deliberadamente modesta — com ~65 linhas de treino por trecho, uma grade grande só encontraria combinações ajustadas ao ruído da validação cruzada, não um padrão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Validação: Split Temporal, Walk-Forward e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Split temporal — </a:t>
            </a:r>
            <a:r>
              <a:rPr sz="1500">
                <a:solidFill>
                  <a:srgbClr val="1A1A1A"/>
                </a:solidFill>
                <a:latin typeface="Calibri"/>
              </a:rPr>
              <a:t>treino com anos anteriores a 2015, teste com anos a partir de 2015. Nunca embaralhado aleatoriamente — evita que o modelo "veja o futuro" durante o treino.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Walk-forward (janela expansível) — </a:t>
            </a:r>
            <a:r>
              <a:rPr sz="1500">
                <a:solidFill>
                  <a:srgbClr val="1A1A1A"/>
                </a:solidFill>
                <a:latin typeface="Calibri"/>
              </a:rPr>
              <a:t>11 partições por trecho/alvo, testando o modelo ano a ano com janela de treino crescente — revela estabilidade temporal, não só um número médio agregado.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Baseline de persistência — </a:t>
            </a:r>
            <a:r>
              <a:rPr sz="1500">
                <a:solidFill>
                  <a:srgbClr val="1A1A1A"/>
                </a:solidFill>
                <a:latin typeface="Calibri"/>
              </a:rPr>
              <a:t>"previsto = valor do ano anterior", calculado no MESMO conjunto de teste — todo erro reportado é lido contra esse baseline, nunca isoladamente.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Métricas quebradas por fonte — </a:t>
            </a:r>
            <a:r>
              <a:rPr sz="1500">
                <a:solidFill>
                  <a:srgbClr val="1A1A1A"/>
                </a:solidFill>
                <a:latin typeface="Calibri"/>
              </a:rPr>
              <a:t>erro do teste medido separadamente para anos observados e anos simulados — expõe se o conjunto de teste está contaminado com anos simulados.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Resultados Reais — Walk-Forward (11 partições/trecho/alvo)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286000"/>
                <a:gridCol w="2286000"/>
                <a:gridCol w="2194560"/>
              </a:tblGrid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Trecho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Alvo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Erro médio (MAE)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Erro do baseline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% partições melhor que baseline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Alto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6,41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5,93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36,4%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Alto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OD (mg/L)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0,29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0,24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36,4%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Médio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7,09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10,27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81,8%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Médio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OD (mg/L)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0,48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0,50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45,5%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Baixo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4,84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5,63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63,6%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049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</a:rPr>
                        <a:t>Baixo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OD (mg/L)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0,37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0,56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</a:rPr>
                        <a:t>63,6%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43484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5697A"/>
                </a:solidFill>
                <a:latin typeface="Calibri"/>
              </a:rPr>
              <a:t>Leitura honesta: o Médio Tietê tem o ganho mais consistente sobre o baseline (82% das partições para IQA). O Alto Tietê é o mais fraco (36%) — a série ali é mais difícil de prever que simplesmente repetir o valor do ano anterior. Essa quebra por trecho só existe porque uma métrica agregada escondia esse trecho fraco atrás de trechos bons.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C9A227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Importância das Variáveis (Random Forest)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B8CCDE"/>
                </a:solidFill>
                <a:latin typeface="Calibri"/>
              </a:rPr>
              <a:t>Como o modelo se comporta com cada preditora — evidência real (SHAP)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Como Medir "Importância" num 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250" b="1">
                <a:solidFill>
                  <a:srgbClr val="1F5FA8"/>
                </a:solidFill>
              </a:rPr>
              <a:t>●  </a:t>
            </a:r>
            <a:r>
              <a:rPr b="1" sz="1450">
                <a:solidFill>
                  <a:srgbClr val="0F2E44"/>
                </a:solidFill>
                <a:latin typeface="Calibri"/>
              </a:rPr>
              <a:t>O que é um Random Forest — </a:t>
            </a:r>
            <a:r>
              <a:rPr sz="1450">
                <a:solidFill>
                  <a:srgbClr val="1A1A1A"/>
                </a:solidFill>
                <a:latin typeface="Calibri"/>
              </a:rPr>
              <a:t>uma combinação de muitas árvores de decisão; cada árvore divide os dados repetidamente por uma preditora de cada vez, e a previsão final é a média das árvores.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250" b="1">
                <a:solidFill>
                  <a:srgbClr val="1F5FA8"/>
                </a:solidFill>
              </a:rPr>
              <a:t>●  </a:t>
            </a:r>
            <a:r>
              <a:rPr b="1" sz="1450">
                <a:solidFill>
                  <a:srgbClr val="0F2E44"/>
                </a:solidFill>
                <a:latin typeface="Calibri"/>
              </a:rPr>
              <a:t>Por que "importância bruta" não basta — </a:t>
            </a:r>
            <a:r>
              <a:rPr sz="1450">
                <a:solidFill>
                  <a:srgbClr val="1A1A1A"/>
                </a:solidFill>
                <a:latin typeface="Calibri"/>
              </a:rPr>
              <a:t>a importância nativa da árvore (quantas vezes uma preditora foi usada para dividir) não diz a direção do efeito nem quanto cada preditora pesou numa previsão específica.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250" b="1">
                <a:solidFill>
                  <a:srgbClr val="1F5FA8"/>
                </a:solidFill>
              </a:rPr>
              <a:t>●  </a:t>
            </a:r>
            <a:r>
              <a:rPr b="1" sz="1450">
                <a:solidFill>
                  <a:srgbClr val="0F2E44"/>
                </a:solidFill>
                <a:latin typeface="Calibri"/>
              </a:rPr>
              <a:t>A métrica usada aqui: SHAP — </a:t>
            </a:r>
            <a:r>
              <a:rPr sz="1450">
                <a:solidFill>
                  <a:srgbClr val="1A1A1A"/>
                </a:solidFill>
                <a:latin typeface="Calibri"/>
              </a:rPr>
              <a:t>atribui, para CADA previsão individual, quanto cada preditora empurrou o resultado para cima ou para baixo em relação à média — permite tanto o ranking de importância quanto a direção do efeito.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250" b="1">
                <a:solidFill>
                  <a:srgbClr val="1F5FA8"/>
                </a:solidFill>
              </a:rPr>
              <a:t>●  </a:t>
            </a:r>
            <a:r>
              <a:rPr b="1" sz="1450">
                <a:solidFill>
                  <a:srgbClr val="0F2E44"/>
                </a:solidFill>
                <a:latin typeface="Calibri"/>
              </a:rPr>
              <a:t>Duas leituras complementares — </a:t>
            </a:r>
            <a:r>
              <a:rPr sz="1450">
                <a:solidFill>
                  <a:srgbClr val="1A1A1A"/>
                </a:solidFill>
                <a:latin typeface="Calibri"/>
              </a:rPr>
              <a:t>com os lags do próprio alvo (matriz de produção, mais precisa) e sem eles (matriz "drivers", mais interpretável) — apresentadas nos próximos slides.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0972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O que Mais Move o IQA — Sem os Lags (Matriz "Drivers")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7607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B8CCDE"/>
                </a:solidFill>
                <a:latin typeface="Calibri"/>
              </a:rPr>
              <a:t>Médio Tietê, recalculado com SHAP a partir do modelo real do projeto</a:t>
            </a:r>
          </a:p>
        </p:txBody>
      </p:sp>
      <p:pic>
        <p:nvPicPr>
          <p:cNvPr id="7" name="Picture 6" descr="shap_drivers_legi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94360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737360"/>
            <a:ext cx="5029200" cy="4206240"/>
          </a:xfrm>
          <a:prstGeom prst="roundRect">
            <a:avLst/>
          </a:prstGeom>
          <a:solidFill>
            <a:srgbClr val="E4F3E8"/>
          </a:solidFill>
          <a:ln w="19050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90195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F9E4F"/>
                </a:solidFill>
                <a:latin typeface="Calibri"/>
              </a:rPr>
              <a:t>Leitura: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313432"/>
            <a:ext cx="4389120" cy="3493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B5E30"/>
                </a:solidFill>
                <a:latin typeface="Calibri"/>
              </a:rPr>
              <a:t>% de área agropecuária domina — mais que o dobro do impacto do ano-calendário, e muito à frente de chuva e vazão. O SHAP mostra contribuição consistentemente NEGATIVA para o IQA (mais agropecuária → IQA previsto mais baixo), coerente com runoff agrícola conhecido na literatura.
% urbano-industrial é o 3º fator mais forte — também negativo.
Chuva e vazão têm impacto quase desprezível neste trecho.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0972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Com os Lags do Próprio Alvo (Matriz de Produção)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7607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B8CCDE"/>
                </a:solidFill>
                <a:latin typeface="Calibri"/>
              </a:rPr>
              <a:t>Médio Tietê, recalculado com SHAP a partir do modelo real do projeto</a:t>
            </a:r>
          </a:p>
        </p:txBody>
      </p:sp>
      <p:pic>
        <p:nvPicPr>
          <p:cNvPr id="7" name="Picture 6" descr="shap_producao_legi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6035040" cy="5120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29400" y="1737360"/>
            <a:ext cx="5074920" cy="420624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90195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5FA8"/>
                </a:solidFill>
                <a:latin typeface="Calibri"/>
              </a:rPr>
              <a:t>Leitura: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313432"/>
            <a:ext cx="4434840" cy="3493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F2E44"/>
                </a:solidFill>
                <a:latin typeface="Calibri"/>
              </a:rPr>
              <a:t>Mesmo incluindo os lags, % agropecuária continua no topo — não é dominado pela autocorrelação neste trecho. As médias móveis de 5 anos de IQA e OD aparecem logo atrás, à frente dos lags de 1/2/3 anos isolados.
Padrão real: uso do solo compete de igual para igual com a memória temporal da própria série — nem sempre os lags dominam sozinhos, o achado depende do trecho e do alvo.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C9A227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Como as Predições São Feitas por Trecho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B8CCDE"/>
                </a:solidFill>
                <a:latin typeface="Calibri"/>
              </a:rPr>
              <a:t>Independência entre trechos e o mecanismo de previsão recursiva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Um Modelo por Trecho — Nunca Misturado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Modelos completamente independentes — </a:t>
            </a:r>
            <a:r>
              <a:rPr sz="1500">
                <a:solidFill>
                  <a:srgbClr val="1A1A1A"/>
                </a:solidFill>
                <a:latin typeface="Calibri"/>
              </a:rPr>
              <a:t>o modelo do Alto Tietê nunca vê dados do Médio ou do Baixo, nem no treino nem na previsão.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Preditoras podem diferir entre trechos — </a:t>
            </a:r>
            <a:r>
              <a:rPr sz="1500">
                <a:solidFill>
                  <a:srgbClr val="1A1A1A"/>
                </a:solidFill>
                <a:latin typeface="Calibri"/>
              </a:rPr>
              <a:t>vazão média está presente no Alto e no Médio, mas é removida no Baixo Tietê (série com inconsistência estrutural documentada).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300" b="1">
                <a:solidFill>
                  <a:srgbClr val="1F5FA8"/>
                </a:solidFill>
              </a:rPr>
              <a:t>●  </a:t>
            </a:r>
            <a:r>
              <a:rPr b="1" sz="1500">
                <a:solidFill>
                  <a:srgbClr val="0F2E44"/>
                </a:solidFill>
                <a:latin typeface="Calibri"/>
              </a:rPr>
              <a:t>Cada trecho carrega sua própria memória — </a:t>
            </a:r>
            <a:r>
              <a:rPr sz="1500">
                <a:solidFill>
                  <a:srgbClr val="1A1A1A"/>
                </a:solidFill>
                <a:latin typeface="Calibri"/>
              </a:rPr>
              <a:t>os lags de IQA/OD usados para prever o Médio Tietê vêm exclusivamente do histórico do Médio Tietê.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480560"/>
            <a:ext cx="10972800" cy="1463040"/>
          </a:xfrm>
          <a:prstGeom prst="roundRect">
            <a:avLst/>
          </a:prstGeom>
          <a:solidFill>
            <a:srgbClr val="FBEC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4515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C0392B"/>
                </a:solidFill>
                <a:latin typeface="Calibri"/>
              </a:rPr>
              <a:t>Por que isso importa: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56632"/>
            <a:ext cx="103327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1F1A"/>
                </a:solidFill>
                <a:latin typeface="Calibri"/>
              </a:rPr>
              <a:t>Essa separação é uma correção direta do achado de auditoria: um modelo único com o trecho como variável categórica teve R² negativo em toda transferência cruzada Alto↔Médio↔Baixo — os regimes de qualidade da água são estruturalmente diferentes entre trechos.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Previsão Recursiva: Ano a Ano, Dentro do Mesmo Trecho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55697A"/>
                </a:solidFill>
                <a:latin typeface="Calibri"/>
              </a:rPr>
              <a:t>Para anos futuros, não existe IQA/OD real para usar como lag — cada passo usa a PRÓPRIA previsão do passo anterior.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148840"/>
            <a:ext cx="2966618" cy="228600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377440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F2E44"/>
                </a:solidFill>
                <a:latin typeface="Calibri"/>
              </a:rPr>
              <a:t>Ano N+1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71800"/>
            <a:ext cx="269229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5697A"/>
                </a:solidFill>
                <a:latin typeface="Calibri"/>
              </a:rPr>
              <a:t>Lags vêm do histórico
REAL (últimos anos
conhecidos)</a:t>
            </a:r>
          </a:p>
        </p:txBody>
      </p:sp>
      <p:sp>
        <p:nvSpPr>
          <p:cNvPr id="10" name="Chevron 9"/>
          <p:cNvSpPr/>
          <p:nvPr/>
        </p:nvSpPr>
        <p:spPr>
          <a:xfrm>
            <a:off x="4155338" y="3108960"/>
            <a:ext cx="457200" cy="365760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2538" y="2148840"/>
            <a:ext cx="2966618" cy="228600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9698" y="2377440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F2E44"/>
                </a:solidFill>
                <a:latin typeface="Calibri"/>
              </a:rPr>
              <a:t>Ano N+2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2971800"/>
            <a:ext cx="269229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5697A"/>
                </a:solidFill>
                <a:latin typeface="Calibri"/>
              </a:rPr>
              <a:t>Lags incluem a
PREVISÃO do modelo
para o ano N+1</a:t>
            </a:r>
          </a:p>
        </p:txBody>
      </p:sp>
      <p:sp>
        <p:nvSpPr>
          <p:cNvPr id="14" name="Chevron 13"/>
          <p:cNvSpPr/>
          <p:nvPr/>
        </p:nvSpPr>
        <p:spPr>
          <a:xfrm>
            <a:off x="7579156" y="3108960"/>
            <a:ext cx="457200" cy="365760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36356" y="2148840"/>
            <a:ext cx="2966618" cy="228600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3516" y="2377440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F2E44"/>
                </a:solidFill>
                <a:latin typeface="Calibri"/>
              </a:rPr>
              <a:t>Ano N+3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3516" y="2971800"/>
            <a:ext cx="269229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0" i="0">
                <a:solidFill>
                  <a:srgbClr val="55697A"/>
                </a:solidFill>
                <a:latin typeface="Calibri"/>
              </a:rPr>
              <a:t>Lags incluem as
PREVISÕES dos anos
N+1 e N+2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4754880"/>
            <a:ext cx="9814255" cy="1371600"/>
          </a:xfrm>
          <a:prstGeom prst="roundRect">
            <a:avLst/>
          </a:prstGeom>
          <a:solidFill>
            <a:srgbClr val="FBF3DD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4919472"/>
            <a:ext cx="91741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C9A227"/>
                </a:solidFill>
                <a:latin typeface="Calibri"/>
              </a:rPr>
              <a:t>Implicação: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330952"/>
            <a:ext cx="91741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A450A"/>
                </a:solidFill>
                <a:latin typeface="Calibri"/>
              </a:rPr>
              <a:t>Consequência direta: o erro de uma previsão pode se propagar e acumular ao longo dos anos seguintes — horizontes de previsão longos merecem mais cautela que horizontes curtos.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" y="164592"/>
            <a:ext cx="658368" cy="6583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0F2E44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46888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Vazão e Chuva Futuras: Climatologia, Não Previsão Meteorológica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250" b="1">
                <a:solidFill>
                  <a:srgbClr val="1F5FA8"/>
                </a:solidFill>
              </a:rPr>
              <a:t>●  </a:t>
            </a:r>
            <a:r>
              <a:rPr b="1" sz="1450">
                <a:solidFill>
                  <a:srgbClr val="0F2E44"/>
                </a:solidFill>
                <a:latin typeface="Calibri"/>
              </a:rPr>
              <a:t>Climatologia dos últimos 10 anos — </a:t>
            </a:r>
            <a:r>
              <a:rPr sz="1450">
                <a:solidFill>
                  <a:srgbClr val="1A1A1A"/>
                </a:solidFill>
                <a:latin typeface="Calibri"/>
              </a:rPr>
              <a:t>vazão e chuva de anos futuros usam a MÉDIA histórica recente do trecho, não uma previsão meteorológica real.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250" b="1">
                <a:solidFill>
                  <a:srgbClr val="1F5FA8"/>
                </a:solidFill>
              </a:rPr>
              <a:t>●  </a:t>
            </a:r>
            <a:r>
              <a:rPr b="1" sz="1450">
                <a:solidFill>
                  <a:srgbClr val="0F2E44"/>
                </a:solidFill>
                <a:latin typeface="Calibri"/>
              </a:rPr>
              <a:t>Sem limite explícito de horizonte — </a:t>
            </a:r>
            <a:r>
              <a:rPr sz="1450">
                <a:solidFill>
                  <a:srgbClr val="1A1A1A"/>
                </a:solidFill>
                <a:latin typeface="Calibri"/>
              </a:rPr>
              <a:t>é possível pedir qualquer número de anos à frente, mas o Random Forest não extrapola bem além do range de "ano" visto no treino.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250" b="1">
                <a:solidFill>
                  <a:srgbClr val="1F5FA8"/>
                </a:solidFill>
              </a:rPr>
              <a:t>●  </a:t>
            </a:r>
            <a:r>
              <a:rPr b="1" sz="1450">
                <a:solidFill>
                  <a:srgbClr val="0F2E44"/>
                </a:solidFill>
                <a:latin typeface="Calibri"/>
              </a:rPr>
              <a:t>Comportamento em horizontes longos — </a:t>
            </a:r>
            <a:r>
              <a:rPr sz="1450">
                <a:solidFill>
                  <a:srgbClr val="1A1A1A"/>
                </a:solidFill>
                <a:latin typeface="Calibri"/>
              </a:rPr>
              <a:t>o modelo tende a saturar no valor do último ano treinado, não a projetar a tendência de queda linearmente para além disso.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251960"/>
            <a:ext cx="10972800" cy="1691640"/>
          </a:xfrm>
          <a:prstGeom prst="roundRect">
            <a:avLst/>
          </a:prstGeom>
          <a:solidFill>
            <a:srgbClr val="E4F3E8"/>
          </a:solidFill>
          <a:ln w="19050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1655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F9E4F"/>
                </a:solidFill>
                <a:latin typeface="Calibri"/>
              </a:rPr>
              <a:t>Recomendação: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28032"/>
            <a:ext cx="10332720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B5E30"/>
                </a:solidFill>
                <a:latin typeface="Calibri"/>
              </a:rPr>
              <a:t>Recomendação de uso: tratar a previsão recursiva como adequada para horizontes curtos (poucos anos) — para cenários de política de longo prazo, o modelo baseado em agentes (que simula mecanismos causais explícitos) é a ferramenta mais apropriada, não este modelo estatístico.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Resumo dos 5 Pontos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02920" cy="50292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F2E44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91640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8E4F0"/>
                </a:solidFill>
                <a:latin typeface="Calibri"/>
              </a:rPr>
              <a:t>Dados agregados em funil: medição pontual → posto/mês → trecho/ano.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502920" cy="50292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F2E44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68880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8E4F0"/>
                </a:solidFill>
                <a:latin typeface="Calibri"/>
              </a:rPr>
              <a:t>O modelo prevê exatamente 2 números — IQA e OD — por (trecho, ano).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502920" cy="50292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F2E44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246120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8E4F0"/>
                </a:solidFill>
                <a:latin typeface="Calibri"/>
              </a:rPr>
              <a:t>Treino com split temporal + validação walk-forward, sempre contra baseline.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23360"/>
            <a:ext cx="502920" cy="50292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F2E44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023360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8E4F0"/>
                </a:solidFill>
                <a:latin typeface="Calibri"/>
              </a:rPr>
              <a:t>Uso do solo compete com autocorrelação — não é só "o passado prevendo o futuro".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00600"/>
            <a:ext cx="502920" cy="50292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006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F2E44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00600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8E4F0"/>
                </a:solidFill>
                <a:latin typeface="Calibri"/>
              </a:rPr>
              <a:t>3 modelos independentes; previsão futura é recursiva e acumula incerteza.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89199"/>
                </a:solidFill>
                <a:latin typeface="Calibri"/>
              </a:rPr>
              <a:t>Processo de Modelagem — WaterWeave-Tietê · apresentação técnica completa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