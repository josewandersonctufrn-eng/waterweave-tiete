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Todos os Algoritmos, Explicados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14600"/>
            <a:ext cx="4114800" cy="4572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C9A227"/>
                </a:solidFill>
                <a:latin typeface="Calibri"/>
              </a:rPr>
              <a:t>WaterWeave-Tietê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Trechos reais de código-fonte, com comentários — o que cada algoritmo faz e por 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2044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889199"/>
                </a:solidFill>
                <a:latin typeface="Calibri"/>
              </a:rPr>
              <a:t>Todo código citado vem literalmente de src/waterweave/ — trechos [...] indicam omissão só por espaço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889199"/>
                </a:solidFill>
                <a:latin typeface="Calibri"/>
              </a:rPr>
              <a:t>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Os 12 Algoritmos do Projeto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2743200" cy="502920"/>
          </a:xfrm>
          <a:prstGeom prst="roundRect">
            <a:avLst/>
          </a:prstGeom>
          <a:solidFill>
            <a:srgbClr val="2F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Biofísico e Simulação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9659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Balanço hídrico (reservatório linear)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15768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Streeter-Phelps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465576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Modelo Baseado em Agentes (Mesa)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80160"/>
            <a:ext cx="2743200" cy="502920"/>
          </a:xfrm>
          <a:prstGeom prst="round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801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Preparação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Combinação real + fallback simulado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715768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Imputação controlada (ffill/bfill)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465576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Calibração climática (ERA5/CMIP6)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1280160"/>
            <a:ext cx="2743200" cy="502920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2801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19659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Random Forest + grade de hiperparâmetros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715768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GridSearchCV + baseline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465576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Validação walk-forward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215384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Previsão recursiva multi-ano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965192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Random Forest diagnóstico (drivers)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18320" y="1280160"/>
            <a:ext cx="2743200" cy="5029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280160"/>
            <a:ext cx="27432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Explicabilidade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96596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•  SHAP (TreeExplainer) + achados reais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5697A"/>
                </a:solidFill>
                <a:latin typeface="Calibri"/>
              </a:rPr>
              <a:t>Cada slide traz o trecho de código real (src/waterweave/), o que ele faz e por que foi escrito assim.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Biofísico e Simulação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Os algoritmos determinísticos que simulam o sistema físico do 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Balanço Hídrico (reservatório linear)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97A"/>
                </a:solidFill>
                <a:latin typeface="Calibri"/>
              </a:rPr>
              <a:t>Um reservatório simplificado: a chuva vira escoamento direto + escoamento de base, descontada a evapotranspiração.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949440" cy="489204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src/waterweave/models/biofisico/balanco_hidrico.py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37944"/>
            <a:ext cx="6437376" cy="4361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K_RECESSAO = 0.35        # fração do armazenamento que vira escoamento de base/mês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ET_POTENCIAL_MM = 90.0   # evapotranspiração potencial mensal aproximada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simular_passo_mensal(estado_anterior, precipitacao_mm, uso_solo):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coeficiente = 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coeficiente_de_percentuais_reais(uso_solo) if isinstance(uso_solo, dict)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else classe_para_coeficiente_escoamento(uso_solo)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escoamento_direto_mm = coeficiente * precipitacao_mm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infiltracao_mm = precipitacao_mm - escoamento_direto_mm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armazenamento_disponivel = estado_anterior.armazenamento_mm + infiltracao_mm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et_real_mm = min(ET_POTENCIAL_MM, armazenamento_disponivel)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armazenamento_pos_et = armazenamento_disponivel - et_real_mm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escoamento_base_mm = K_RECESSAO * armazenamento_pos_et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novo_armazenamento = armazenamento_pos_et - escoamento_base_mm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indice_escoamento_mm = escoamento_direto_mm + escoamento_base_mm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EstadoHidrologico(novo_armazenamento, indice_escoamento_mm)  # [...]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417320"/>
            <a:ext cx="4160520" cy="48920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51790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810512"/>
            <a:ext cx="3685032" cy="442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2E44"/>
                </a:solidFill>
                <a:latin typeface="Calibri"/>
              </a:rPr>
              <a:t>Produz um ÍNDICE de escoamento (mm/mês), NÃO uma vazão absoluta — estimar vazão exigiria a área de drenagem real de cada trecho (shapefile ANA/ottobacias, ainda não disponível). Em vez de inventar uma área aproximada, o índice é combinado com a média histórica REAL do trecho em models.hybrid_bridge, que converte a resposta relativa deste modelo numa vazão simulada ancorada em magnitudes observadas.
Simplificação assumida: evapotranspiração fixa (90mm/mês) — substituir por ETo real (Penman-Monteith) quando houver série de temperatura na Gold.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Streeter-Phelps (Streeter &amp; Phelps, 1925)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97A"/>
                </a:solidFill>
                <a:latin typeface="Calibri"/>
              </a:rPr>
              <a:t>Curva clássica de depleção de oxigênio: o déficit de OD a jusante de um lançamento de DBO decai/cresce por desoxigenação (kd) e reaeração (kr).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6949440" cy="489204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src/waterweave/models/biofisico/qualidade_agua.py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37944"/>
            <a:ext cx="6437376" cy="43616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KD_DESOXIGENACAO_DIA = 0.23   # 1/dia, típico DBO doméstica/mista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KR_REAERACAO_DIA = 0.40       # 1/dia, típico rio médio porte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OD_SATURACAO_MG_L = 9.08      # mg/L, aprox. 20°C, baixa altitude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_velocidade_m_s(vazao_m3s):   # geometria hidráulica simplificada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max(0.05, 0.12 * max(vazao_m3s, 0.01) ** 0.3)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simular_od_dbo(vazao_m3s, carga_dbo_kg_dia, distancia_km, od_montante_mg_l=None):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velocidade = _velocidade_m_s(vazao_m3s)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tempo_dias = (distancia_km * 1000 / velocidade) / 86400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l0_mg_l = (carga_dbo_kg_dia * 1_000_000) / (vazao_m3s * 86400 * 1000)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d0 = max(0.0, OD_SATURACAO_MG_L - (od_montante_mg_l or OD_SATURACAO_MG_L))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i="1">
                <a:solidFill>
                  <a:srgbClr val="7E9AA8"/>
                </a:solidFill>
                <a:latin typeface="Consolas"/>
              </a:rPr>
              <a:t>    # [...] equação de Streeter-Phelps (caso kr != kd, ramo usual):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deficit = (KD_DESOXIGENACAO_DIA * l0_mg_l / (KR_REAERACAO_DIA - KD_DESOXIGENACAO_DIA)) * 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exp(-KD_DESOXIGENACAO_DIA * tempo_dias) - exp(-KR_REAERACAO_DIA * tempo_dias)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 + d0 * exp(-KR_REAERACAO_DIA * tempo_dias)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od_jusante = max(0.0, OD_SATURACAO_MG_L - deficit)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od_jusante, l0_mg_l * exp(-KD_DESOXIGENACAO_DIA * tempo_dias)  # (OD, DBO)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417320"/>
            <a:ext cx="4160520" cy="48920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81544" y="151790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81544" y="1810512"/>
            <a:ext cx="3685032" cy="4425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2E44"/>
                </a:solidFill>
                <a:latin typeface="Calibri"/>
              </a:rPr>
              <a:t>kd e kr usam valores típicos de literatura, NÃO calibrados especificamente para o Tietê (exigiria campanhas de campo fora do escopo do projeto). É o único algoritmo do projeto capaz de responder “e se houver um novo lançamento aqui?” de forma causal — a velocidade cresce com a vazão (geometria hidráulica simplificada), o que determina o tempo de trânsito até o ponto de observação.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Modelo Baseado em Agentes (Mesa)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97A"/>
                </a:solidFill>
                <a:latin typeface="Calibri"/>
              </a:rPr>
              <a:t>A cada passo (1 mês), os 5 agentes de cada trecho observam o estado do mês anterior, decidem, e alimentam o balanço hídrico + Streeter-Phelps do mês corrente.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16052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35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src/waterweave/models/abm/model.py — RioTieteModel.step()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10735056" cy="3630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step(self) -&gt; None: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self.mes_atual = self.mes_atual + pd.DateOffset(months=1)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carga_delta_recebida = {}   # desvio de carga recebido do trecho de montante, neste mês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for trecho_id in self._ordem_hidrologica:      # montante -&gt; jusante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for papel in ("comite", "poder_publico", "industria", "agricultor", "concessionaria"):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self.agentes_por_trecho[trecho_id][papel].step()   # cada agente decide sua alavanca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chuva_mes = self._climatologia[trecho_id].get(mes_calendario, ...) * self.fator_clima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passo = hybrid_bridge.executar_passo(     # balanço hídrico + Streeter-Phelps do mês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trecho_id, self.mes_atual, self.estado_hidrologico_por_trecho[trecho_id],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self.parametros_por_trecho[trecho_id], chuva_mes, self._uso_solo[trecho_id],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fator_clima=self.fator_clima,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carga_delta_montante_kg_dia=carga_delta_recebida.get(trecho_id, 0.0),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self.estado_hidrologico_por_trecho[trecho_id] = passo.estado_hidrologico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trecho_jusante = self._trecho_jusante[trecho_id]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if trecho_jusante is not None:      # propaga o DESVIO de carga para o próximo a jusante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desvio_carga = passo.carga_total_kg_dia - hybrid_bridge.carga_base_trecho_kg_dia(trecho_id)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carga_delta_recebida[trecho_jusante] = hybrid_bridge.FRACAO_CARGA_PROPAGADA_MONTANTE * desvio_carga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8229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724144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6016752"/>
            <a:ext cx="10771632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2E44"/>
                </a:solidFill>
                <a:latin typeface="Calibri"/>
              </a:rPr>
              <a:t>Achado real de pesquisa (2026-07): antes desta versão, os 3 trechos rodavam totalmente isolados. Agora o DESVIO de carga poluidora (não a carga bruta, nem a vazão) se propaga montante→jusante dentro do mesmo mês — a vazão continua calibrada independentemente por trecho (ressalva ainda válida).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Preparação de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Os algoritmos que decidem o que é real, o que é imputado e o que é simulado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Combinação Real + Fallback Simulado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329184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src/waterweave/transform/gold_features.py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2761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qualidade_real_com_fallback_simulado() -&gt; pd.DataFrame: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real = read_table(SILVER_DIR / "qualidade_cetesb")       # CETESB, 1978-2024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simulado = read_table(SILVER_DIR / "qualidade")            # série simulada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combinado = pd.concat([real, simulado], ignore_index=True)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prioridade = combinado["fonte_tipo"].map(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{FONTE_TIPO_OBSERVADO: 0, FONTE_TIPO_SIMULADO: 1}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combinado = combinado.assign(_prioridade=prioridade)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combinado = combinado.sort_values(["trecho_id", "ano", "_prioridade"])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i="1">
                <a:solidFill>
                  <a:srgbClr val="7E9AA8"/>
                </a:solidFill>
                <a:latin typeface="Consolas"/>
              </a:rPr>
              <a:t>    # real (prioridade 0) vem primeiro; drop_duplicates mantém só a 1ª linha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combinado = combinado.drop_duplicates(subset=["trecho_id", "ano"], keep="first")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combinado.reset_index(drop=True)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329184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2825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2E44"/>
                </a:solidFill>
                <a:latin typeface="Calibri"/>
              </a:rPr>
              <a:t>A elegância está no sort + drop_duplicates(keep="first"): não é um if/else explícito, é ordenar por prioridade e manter só a primeira linha de cada (trecho, ano) — o real, quando existe, sempre vence.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72000"/>
            <a:ext cx="11247120" cy="17373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4672584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965192"/>
            <a:ext cx="10771632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2E44"/>
                </a:solidFill>
                <a:latin typeface="Calibri"/>
              </a:rPr>
              <a:t>Achado real: o simulado só preenche 1940-1977 (antes do início da série CETESB) e lacunas recentes — no Alto Tietê, isso inclui 2021 e 2022 (a CETESB não reportou esses dois anos, mesmo dentro da janela 1978-2024). O algoritmo capturou isso automaticamente, sem tratamento caso a caso. Achado de auditoria de ML: essa função injeta o valor SIMULADO em ~48% dos trecho-anos — por isso o treino do Random Forest (algoritmo 7) restringe por padrão a fonte_tipo == "observado".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Imputação Controlada (ffill/bfill limitado)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44805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src/waterweave/transform/gold_features.py — build_feature_store_ml_anual()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3950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_LIMITE_PREENCHIMENTO_ANOS = 2            # vazão/chuva variam ano a ano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_LIMITE_PREENCHIMENTO_USO_SOLO_ANOS = 10  # uso do solo muda devagar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for coluna in ("vazao_m3s_medio", "chuva_mm_media"):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preenchido = tabela.groupby("trecho_id")[coluna].transform(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lambda s: s.ffill(limit=_LIMITE_PREENCHIMENTO_ANOS)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tabela[f"{coluna}_imputado"] = tabela[coluna].isna() &amp; preenchido.notna()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tabela[coluna] = preenchido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for coluna in COLUNAS_USO_SOLO:   # natural, agropecuaria, urbano, agua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preenchido = tabela.groupby("trecho_id")[coluna].transform(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lambda s: s.ffill(limit=_LIMITE_PREENCHIMENTO_USO_SOLO_ANOS)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           .bfill(limit=_LIMITE_PREENCHIMENTO_USO_SOLO_ANOS)  # ambas direções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tabela[f"{coluna}_imputado"] = tabela[coluna].isna() &amp; pd.notna(preenchido)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tabela[coluna] = preenchido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4014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0F2E44"/>
                </a:solidFill>
                <a:latin typeface="Calibri"/>
              </a:rPr>
              <a:t>O limite muda por variável de propósito: uso do solo usa ffill+bfill (a lacuna real fica nas BORDAS da série MapBiomas — antes de 1985 e depois de 2023), enquanto vazão/chuva usam só ffill limitado a 2 anos.
Nunca imputa o próprio alvo (IQA/OD): uma lacuna ali significa “não sabemos o valor de X anos atrás”, e imputar esconderia incerteza genuína sobre o alvo, não sobre uma preditora exógena.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Calibração Climática Real (ERA5/CMIP6)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44805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src/waterweave/ingestion/connectors/era5_cmip6.py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3950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fator_precipitacao_relativo(baseline, projecao) -&gt; float: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media_baseline = baseline["chuva_mm_total"].mean()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media_projecao = projecao["chuva_mm_total"].mean()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float(media_projecao / media_baseline)   # &lt;1.0 = mais seco; &gt;1.0 = mais chuvoso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calibrar_fator_clima_ssp(experimento, ano_futuro_centro, janela_anos=20, ...):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meio_janela = janela_anos // 2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baseline = fetch_projection(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"historical", bbox,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desde=BASELINE_CMIP6_DESDE, ate=BASELINE_CMIP6_ATE, modelo=modelo,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projecao = fetch_projection(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experimento, bbox,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desde=date(ano_futuro_centro - meio_janela, 1, 1),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ate=date(ano_futuro_centro + meio_janela, 12, 31), modelo=modelo,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fator_precipitacao_relativo(baseline, projecao)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i="1">
                <a:solidFill>
                  <a:srgbClr val="7E9AA8"/>
                </a:solidFill>
                <a:latin typeface="Consolas"/>
              </a:rPr>
              <a:t># Resultado REAL: fator_clima["mudanca_climatica_extrema"] = 0.982 (SSP5-8.5, mpi_esm1_2_lr)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4014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0F2E44"/>
                </a:solidFill>
                <a:latin typeface="Calibri"/>
              </a:rPr>
              <a:t>Baseline = janela IPCC AR6 de 20 anos (1995-2014, experimento CMIP6 "historical"); projeção = mesma janela de 20 anos centrada em 2050, cenário SSP5-8.5. Usar a MESMA largura de janela nos dois lados evita que o tamanho da amostra, por si só, mude a média comparada.
0,982 = apenas ~1,8% mais seco no cenário mais extremo que no baseline — bem menos severo que o proxy fixo de -25% usado antes desta calibração.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Como os modelos são treinados, validados e usados para prever — em profundidade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Random Forest + Grade de Hiperparâmetros (Breiman, 2001)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44805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src/waterweave/models/ml/train.py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3950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 i="1">
                <a:solidFill>
                  <a:srgbClr val="7E9AA8"/>
                </a:solidFill>
                <a:latin typeface="Consolas"/>
              </a:rPr>
              <a:t># Grade deliberadamente modesta: com ~65 linhas de treino/trecho, uma grade grande só</a:t>
            </a:r>
          </a:p>
          <a:p>
            <a:pPr>
              <a:lnSpc>
                <a:spcPct val="112000"/>
              </a:lnSpc>
            </a:pPr>
            <a:r>
              <a:rPr sz="1030" i="1">
                <a:solidFill>
                  <a:srgbClr val="7E9AA8"/>
                </a:solidFill>
                <a:latin typeface="Consolas"/>
              </a:rPr>
              <a:t># encontraria combinações ajustadas ao ruído da validação cruzada, não um padrão real.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GRADE_HIPERPARAMETROS = {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"n_estimators": [100, 200, 300],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"max_depth": [3, 4, 6, None],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"min_samples_leaf": [1, 2, 4],   # evita folhas de 1 amostra (overfitting clássico)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"max_features": ["sqrt", 0.5, 1.0],   # preditoras vistas por divisão (reduz variância)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}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CV_FOLDS = 5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_buscar_melhor_modelo(X_treino, y_treino) -&gt; GridSearchCV: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busca = GridSearchCV(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RandomForestRegressor(random_state=42), GRADE_HIPERPARAMETROS,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scoring="neg_mean_absolute_error", cv=CV_FOLDS, n_jobs=-1,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busca.fit(X_treino, y_treino)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busca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4014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0F2E44"/>
                </a:solidFill>
                <a:latin typeface="Calibri"/>
              </a:rPr>
              <a:t>Um modelo INDEPENDENTE por trecho (não um único modelo com trecho_id como categoria) — achado de auditoria: um modelo único generaliza mal entre trechos (R² NEGATIVO, de -0,13 a -5,31, ao testar num trecho diferente do treino). A relação preditora→alvo muda de patamar entre Alto/Médio/Baixo Tietê.
Cada árvore só vê um subconjunto aleatório de preditoras por divisão (bagging) — reduz a variância entre árvores; a previsão final é a média de todas elas.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GridSearchCV + Baseline de Persistência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44805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src/waterweave/models/ml/train.py — treinar_modelo_trecho()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3950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treino, teste = ano &lt; ano_corte_teste, ano &gt;= ano_corte_teste   # split por ANO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treino = _mascara_treino_observado(fonte, treino, ...)   # fonte_tipo=="observado"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busca = _buscar_melhor_modelo(X[treino], y[treino])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modelo = busca.best_estimator_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predito = modelo.predict(X[teste])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metricas.update(_metricas_regressao(y[teste], predito))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coluna_lag1a = f"{alvo}_lag1a"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baseline_predito = X.loc[teste, coluna_lag1a]   # "previsto = valor do ano anterior"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metricas_baseline = _metricas_regressao(y[teste], baseline_predito)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reducao_mae = 1 - (metricas["mae"] / metricas_baseline["mae"])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metricas["supera_baseline_com_margem"] = reducao_mae &gt;= MARGEM_MINIMA_SOBRE_BASELINE  # 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4014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0F2E44"/>
                </a:solidFill>
                <a:latin typeface="Calibri"/>
              </a:rPr>
              <a:t>Por que comparar contra um baseline tão simples: mesmo sem vazamento de dados, o valor do ano anterior já é a feature mais forte em qualquer série com autocorrelação temporal. Comparar contra esse baseline trivial é o que mostra se o Random Forest está agregando algo além disso — não basta ter MAE baixo, precisa vencer “chutar o ano passado” por uma margem clara (5%).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Validação Walk-Forward (janela expansiva)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47120" cy="28803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10735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src/waterweave/models/ml/train.py — validacao_walk_forward_trecho()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10735056" cy="2350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anos_candidatos = sorted(a for a in ano[ano &gt;= ano_minimo_teste].unique())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for ano_teste in anos_candidatos: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treino_mask = ano &lt; ano_teste                        # só passado estrito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teste_mask = ano == ano_teste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treino_mask = _mascara_treino_observado(fonte, treino_mask, ...)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if treino_mask.sum() &lt; min_anos_treino or teste_mask.sum() == 0: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continue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busca = _buscar_melhor_modelo(X[treino_mask], y[treino_mask])   # refaz a busca A CADA fold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predito = busca.best_estimator_.predict(X[teste_mask])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metricas_fold = _metricas_regressao(y[teste_mask], predito)     # 1 MAE por ano testado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160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Trecho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 médio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MAE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% folds &gt; baseline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6,41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5,93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0,29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0,24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36,4%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7,09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10,27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81,8%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0,48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0,50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45,5%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4,84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5,63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0,37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0,56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A1A1A"/>
                          </a:solidFill>
                        </a:rPr>
                        <a:t>63,6%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Previsão Recursiva Multi-Ano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97A"/>
                </a:solidFill>
                <a:latin typeface="Calibri"/>
              </a:rPr>
              <a:t>Para prever vários anos à frente, cada ano futuro usa as PREVISÕES dos anos futuros anteriores como lag — não há como conhecer o IQA "real" de um ano que ainda não ocorreu.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40233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1073505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src/waterweave/models/ml/predict_iqa.py — prever_iqa()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92224"/>
            <a:ext cx="10735056" cy="3493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janela_iqa = list(historico["iqa"].dropna())[-_JANELA_LAGS:]      # últimos 5 anos REAIS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janela_od = list(historico["od_mg_l"].dropna())[-_JANELA_LAGS:]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for passo in range(1, horizonte_anos + 1):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ano_previsto = ultimo_ano + passo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valores = {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"ano": ano_previsto,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"vazao_m3s_medio": vazao_media,     # climatologia: média dos últimos 10 anos (fixa)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"chuva_mm_media": chuva_media,      # idem — não há previsão de chuva futura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    "iqa_lag1a": _lag(janela_iqa, 1), "iqa_lag2a": _lag(janela_iqa, 2),  # [...] demais lags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}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entrada = pd.DataFrame([{k: valores[k] for k in preditoras}])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iqa_previsto = float(modelo_iqa.predict(entrada)[0])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od_previsto = float(modelo_od.predict(entrada)[0])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janela_iqa.append(iqa_previsto)   # o ano PREVISTO vira lag do PRÓXIMO ano previsto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janela_od.append(od_previsto)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janela_iqa, janela_od = janela_iqa[-_JANELA_LAGS:], janela_od[-_JANELA_LAGS:]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532120"/>
            <a:ext cx="11247120" cy="86868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5632704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2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925312"/>
            <a:ext cx="1077163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0F2E44"/>
                </a:solidFill>
                <a:latin typeface="Calibri"/>
              </a:rPr>
              <a:t>Ressalva do próprio código: o Random Forest não extrapola além do range de "ano" visto no treino — para horizontes muito longos, tende a saturar no valor do ano-limite treinado, não a projetar a tendência linearmente.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Random Forest Diagnóstico (matriz “drivers”)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44805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src/waterweave/models/ml/shap_analysis.py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3950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_HIPERPARAMETROS_DRIVERS = dict(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n_estimators=300, max_depth=4, min_samples_leaf=2, random_state=42,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)   # FIXOS — não passa por GridSearchCV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explicar_modelo_drivers(gold_df, alvo, trecho_id, ano_corte_teste=ANO_CORTE_TESTE):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X, y = montar_matriz_features_drivers_por_trecho(gold_df, alvo, trecho_id)  # SEM lags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ano = gold_df.loc[X.index, "ano"]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treino, teste = ano &lt; ano_corte_teste, ano &gt;= ano_corte_teste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modelo = RandomForestRegressor(**_HIPERPARAMETROS_DRIVERS)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modelo.fit(X[treino], y[treino])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explainer = shap.TreeExplainer(modelo)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shap_values = explainer.shap_values(X[teste].reset_index(drop=True))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shap_values, X[teste], importancia_media_abs(shap_values)  # [...]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4014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0F2E44"/>
                </a:solidFill>
                <a:latin typeface="Calibri"/>
              </a:rPr>
              <a:t>Por que um segundo modelo, com hiperparâmetros fixos e sem lags: {alvo}_lag1a domina o SHAP do modelo de produção só por autocorrelação temporal genuína — ótimo para PREVISÃO, inútil para responder “que fator reduz a poluição?”. Este modelo é puramente diagnóstico: nunca salvo em produção, treinado sobre todo o histórico disponível (real+simulado), não só “observado”.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63240"/>
            <a:ext cx="12191695" cy="4114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2011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2331720"/>
            <a:ext cx="8412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Explicabilidade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B8CCDE"/>
                </a:solidFill>
                <a:latin typeface="Calibri"/>
              </a:rPr>
              <a:t>Como o projeto abre a “caixa-preta” do modelo — com código e achados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SHAP — TreeExplainer (Lundberg &amp; Lee, 2017)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6949440" cy="4480560"/>
          </a:xfrm>
          <a:prstGeom prst="roundRect">
            <a:avLst/>
          </a:prstGeom>
          <a:solidFill>
            <a:srgbClr val="1E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207008"/>
            <a:ext cx="643737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C9A227"/>
                </a:solidFill>
                <a:latin typeface="Consolas"/>
              </a:rPr>
              <a:t>src/waterweave/models/ml/shap_analysis.py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17904"/>
            <a:ext cx="6437376" cy="39502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030" b="1">
                <a:solidFill>
                  <a:srgbClr val="E8C46A"/>
                </a:solidFill>
                <a:latin typeface="Consolas"/>
              </a:rPr>
              <a:t>def explicar_modelo(gold_df, alvo, trecho_id, ano_corte_teste=ANO_CORTE_TESTE):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X, y = montar_matriz_features_anual_por_trecho(gold_df, alvo, trecho_id)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teste = gold_df.loc[X.index, "ano"] &gt;= ano_corte_teste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X_teste = X[teste].reset_index(drop=True)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modelo = joblib.load(MODELOS_DIR / f"{trecho_id}_{alvo}_model.joblib")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explainer = shap.TreeExplainer(modelo)   # exato p/ árvores, sem dataset de referência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shap_values = explainer.shap_values(X_teste)   # 1 valor por preditora, por observação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importancia = pd.Series(np.abs(shap_values).mean(axis=0), index=X_teste.columns)</a:t>
            </a:r>
          </a:p>
          <a:p>
            <a:pPr>
              <a:lnSpc>
                <a:spcPct val="112000"/>
              </a:lnSpc>
            </a:pPr>
            <a:r>
              <a:rPr sz="1030">
                <a:solidFill>
                  <a:srgbClr val="D8E4E8"/>
                </a:solidFill>
                <a:latin typeface="Consolas"/>
              </a:rPr>
              <a:t>    return shap_values, X_teste, importancia.sort_values(ascending=False)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097280"/>
            <a:ext cx="4160520" cy="448056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81544" y="1197864"/>
            <a:ext cx="3685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5FA8"/>
                </a:solidFill>
                <a:latin typeface="Calibri"/>
              </a:rPr>
              <a:t>Comentário (do código-fonte):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81544" y="1490472"/>
            <a:ext cx="3685032" cy="4014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30" b="0" i="0">
                <a:solidFill>
                  <a:srgbClr val="0F2E44"/>
                </a:solidFill>
                <a:latin typeface="Calibri"/>
              </a:rPr>
              <a:t>Baseado em valores de Shapley (teoria dos jogos cooperativos): quanto cada preditora contribuiu para afastar ESTA previsão da média geral. TreeExplainer calcula isso de forma exata e rápida aproveitando a estrutura da árvore — explicadores genéricos (KernelSHAP) precisariam de um dataset de referência e seriam muito mais lentos.
SEMPRE sobre o conjunto de TESTE (nunca treino) — para não confundir “o que o modelo memorizou” com “o que generaliza”.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28016"/>
            <a:ext cx="594360" cy="5943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0F2E44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4864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SHAP — Achados Reais (direção do efeito)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"/>
            <a:ext cx="107899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B8CCDE"/>
                </a:solidFill>
                <a:latin typeface="Calibri"/>
              </a:rPr>
              <a:t>Computado ao vivo, neste momento, sobre os modelos treinados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5697A"/>
                </a:solidFill>
                <a:latin typeface="Calibri"/>
              </a:rPr>
              <a:t>Sinal do SHAP médio no conjunto de teste — não é só "quão importante", é "empurra o IQA/OD para cima ou para baixo":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173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74066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Trecho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Alvo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Top-2 drivers reais (sinal)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% Agropecuária (↓ baixa); Ano (↓ baixa)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Alto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% Agropecuária (↓ baixa); Ano (↓ baixa)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% Agropecuária (↓ baixa); Ano (↓ baixa)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Médio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Ano (↓ baixa); % Urbano/Industrial (↓ baixa)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IQA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% Água (↓ baixa); Chuva média (misto)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</a:rPr>
                        <a:t>Baixo Tietê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1A"/>
                          </a:solidFill>
                        </a:rPr>
                        <a:t>% Natural (↓ baixa); % Água (↓ baixa)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4846320"/>
            <a:ext cx="11247120" cy="1554480"/>
          </a:xfrm>
          <a:prstGeom prst="roundRect">
            <a:avLst/>
          </a:prstGeom>
          <a:solidFill>
            <a:srgbClr val="E8F0FA"/>
          </a:solidFill>
          <a:ln w="1905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4946904"/>
            <a:ext cx="10771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70" b="1" i="0">
                <a:solidFill>
                  <a:srgbClr val="1F5FA8"/>
                </a:solidFill>
                <a:latin typeface="Calibri"/>
              </a:rPr>
              <a:t>Comentário (achado real desta pesquisa):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239512"/>
            <a:ext cx="10771632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0F2E44"/>
                </a:solidFill>
                <a:latin typeface="Calibri"/>
              </a:rPr>
              <a:t>Achado real e contra-intuitivo: no Baixo Tietê, % Água PUXA o IQA/OD PARA BAIXO — consistente com estratificação de reservatório e reaeração reduzida, não com diluição simples (que seria o intuitivo). Já no Alto/Médio Tietê, % Agropecuária é o driver dominante, também negativo — um mecanismo genuinamente diferente por trecho, que só apareceu ao remover os lags do próprio alvo (algoritmo 11).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789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Resumo: Onde Cada Algoritmo é Usado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757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3017520"/>
                <a:gridCol w="2971800"/>
              </a:tblGrid>
              <a:tr h="400929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Algoritmo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Arquivo real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Entrada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Saída</a:t>
                      </a:r>
                    </a:p>
                  </a:txBody>
                  <a:tcPr>
                    <a:solidFill>
                      <a:srgbClr val="1F5FA8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1. Balanço hídrico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biofisico/balanco_hidrico.py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Chuva mensal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Índice de escoamento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2. Streeter-Phelps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biofisico/qualidade_agua.py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Vazão, carga de DBO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OD/DBO previstos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3. ABM (Mesa)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models/abm/model.py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Estado do mês anterior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Novas alavancas + estado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4. Combinação real/simulado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transform/gold_features.py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Tabelas real e simulada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1 tabela por (trecho, ano)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5. Imputação controlada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transform/gold_features.py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Coluna com lacunas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Coluna preenchida + flag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6. Calibração climática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ingestion/connectors/era5_cmip6.py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ERA5 real + CMIP6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fator_clima = 0,982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7. Random Forest (produção)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models/ml/train.py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14 preditoras (com lags)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IQA/OD previsto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8. GridSearchCV +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models/ml/train.py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Grade de hiperparâmetros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Melhor config. + comparação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9. Walk-forward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models/ml/train.py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Série temporal completa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11 medidas de erro (MAE)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10. Previsão recursiva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models/ml/predict_iqa.py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Últimos 5 anos reais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N anos futuros encadeados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11. Random Forest (diagnóstico)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models/ml/shap_analysis.py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7 preditoras (sem lags)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Modelo para SHAP</a:t>
                      </a:r>
                    </a:p>
                  </a:txBody>
                  <a:tcPr>
                    <a:solidFill>
                      <a:srgbClr val="E8F0FA"/>
                    </a:solidFill>
                  </a:tcPr>
                </a:tc>
              </a:tr>
              <a:tr h="400932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A1A1A"/>
                          </a:solidFill>
                        </a:rPr>
                        <a:t>12. SHAP TreeExplainer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models/ml/shap_analysis.py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Modelo diagnóstico treinado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>
                          <a:solidFill>
                            <a:srgbClr val="1A1A1A"/>
                          </a:solidFill>
                        </a:rPr>
                        <a:t>Ranking + direção do efeito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47104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89199"/>
                </a:solidFill>
                <a:latin typeface="Calibri"/>
              </a:rPr>
              <a:t>WaterWeave-Tietê — Algoritmos Explicados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286000"/>
            <a:ext cx="10515600" cy="2286000"/>
          </a:xfrm>
          <a:prstGeom prst="roundRect">
            <a:avLst/>
          </a:prstGeom>
          <a:solidFill>
            <a:srgbClr val="163A54"/>
          </a:solidFill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51460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C9A227"/>
                </a:solidFill>
                <a:latin typeface="Calibri"/>
              </a:rPr>
              <a:t>Em uma frase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9601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Calibri"/>
              </a:rPr>
              <a:t>12 algoritmos, código real de src/waterweave/ lado a lado com o raciocínio por trás de cada escolha — do balanço físico do rio à direção estatística de por que a água piora, nada escondido, tudo rastreável até a linha de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89199"/>
                </a:solidFill>
                <a:latin typeface="Calibri"/>
              </a:rPr>
              <a:t>WaterWeave-Tietê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