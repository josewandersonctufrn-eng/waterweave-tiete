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 Light"/>
              </a:rPr>
              <a:t>WaterWeave-Tietê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9DCEA"/>
                </a:solidFill>
                <a:latin typeface="Calibri"/>
              </a:rPr>
              <a:t>Integração de dados reais, machine learning e modelagem para o monitoramento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C9DCEA"/>
                </a:solidFill>
                <a:latin typeface="Calibri"/>
              </a:rPr>
              <a:t>da qualidade da água do Rio Tietê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B4C8"/>
                </a:solidFill>
                <a:latin typeface="Calibri"/>
              </a:rPr>
              <a:t>Pesquisa de pós-doutorado · Projeto Water4All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Contexto e 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O Rio Tietê: da nascente (Salesópolis) à foz no Rio Paraná (Itapura), ~1.100 km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2/18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Pergunta de pesquisa: quais fatores — uso do solo, clima, vazão — determinam a qualidade da água ao longo do tempo, e um modelo de ML consegue prever e ajudar a atribuir causa?</a:t>
            </a:r>
          </a:p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Três trechos monitorados, com histórias muito diferentes:</a:t>
            </a:r>
          </a:p>
          <a:p>
            <a:pPr algn="l" marL="365760"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Alto Tietê — nascente, forte urbanização (região metropolitana de São Paulo)</a:t>
            </a:r>
          </a:p>
          <a:p>
            <a:pPr algn="l" marL="365760"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Médio Tietê — predominantemente agropecuário, reservatórios (Barra Bonita, Promissão)</a:t>
            </a:r>
          </a:p>
          <a:p>
            <a:pPr algn="l" marL="365760"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Baixo Tietê — foz, reservatórios extensos, menor pressão urbana direta</a:t>
            </a:r>
          </a:p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Objetivo do projeto: substituir dado simulado por dado REAL sempre que possível (CETESB, MapBiomas, Landsat, DAEE), com um pipeline reprodutível e ML auditado.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Arquitetura do pipeline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Arquitetura em camadas (medallion): Bronze → Silver → Gold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3/18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76218" cy="5486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33018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576218" cy="41148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210458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Ingestão bruta, com proveniência marcada em cada linha (fonte_tipo: observado ou simulado).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Fontes: CETESB, DAEE, MapBiomas (Earth Engine), Landsat (Earth Engine), planilhas históricas.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7738" y="1463040"/>
            <a:ext cx="3576218" cy="548640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4898" y="1536192"/>
            <a:ext cx="33018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7738" y="2011680"/>
            <a:ext cx="3576218" cy="41148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0618" y="2148840"/>
            <a:ext cx="3210458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Normalização: schema comum, proveniência propagada, dado real priorizado sobre simulado onde os dois existem para o mesmo (trecho, ano).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8276" y="1463040"/>
            <a:ext cx="3576218" cy="548640"/>
          </a:xfrm>
          <a:prstGeom prst="rect">
            <a:avLst/>
          </a:prstGeom>
          <a:solidFill>
            <a:srgbClr val="2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5436" y="1536192"/>
            <a:ext cx="33018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8276" y="2011680"/>
            <a:ext cx="3576218" cy="41148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1156" y="2148840"/>
            <a:ext cx="3210458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Features prontas para consumo: feature_store_ml_anual (ML), serie_temporal_trecho_mes (dashboard), estado_inicial_abm (simulação).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Fontes de dados integradas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Real sempre que disponível — simulado só como fallback documentado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4/18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2651760"/>
                <a:gridCol w="347472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Fonte</a:t>
                      </a:r>
                    </a:p>
                  </a:txBody>
                  <a:tcPr>
                    <a:solidFill>
                      <a:srgbClr val="0F2E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0F2E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Cobertura</a:t>
                      </a:r>
                    </a:p>
                  </a:txBody>
                  <a:tcPr>
                    <a:solidFill>
                      <a:srgbClr val="0F2E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 no pipeline</a:t>
                      </a:r>
                    </a:p>
                  </a:txBody>
                  <a:tcPr>
                    <a:solidFill>
                      <a:srgbClr val="0F2E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CETESB (rede estadual)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1978–2024 · 2,4 milhões de medições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IQA, OD, DBO, metais pesados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DAEE (fluvio/pluviometria)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1940–2025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Vazão e chuva por trecho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MapBiomas (Google Earth Engine)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1985–2023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Uso do solo (% natural/agro/urbano/água)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Landsat (Google Earth Engine)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1984–2026 · 903 observações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NDVI, temperatura, proxy de turbidez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ERA5 / CMIP6 (Copernicus CDS)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2020–2026 (ERA5) · 1995–2060 (CMIP6)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Clima observado + projeções futuras (fator_clima do ABM)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Planilha solo/sedimentos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Simulado (parcial)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1940–2025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Pesticidas, matéria orgânica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Planilha sensoriamento ilustrativa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Simulado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 · 14 linhas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Fallback onde o Landsat não cobre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Achado de auditoria: dado real “escondido”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Uma fonte configurada não é o mesmo que uma fonte lida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5/18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2.397.437 medições reais da CETESB estavam declaradas na configuração do projeto desde o início, mas NENHUM módulo de ingestão as lia — o pipeline rodava inteiramente sobre dado simulado sem que isso fosse óbvio.</a:t>
            </a:r>
          </a:p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Corrigido: nova ingestão dedicada (bronze_cetesb) + regra de prioridade explícita (qualidade_real_com_fallback_simulado) — real sempre que existir, simulado só para preencher lacunas (principalmente 1940–1977).</a:t>
            </a:r>
          </a:p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O mesmo padrão foi replicado, nesta mesma pesquisa, para:</a:t>
            </a:r>
          </a:p>
          <a:p>
            <a:pPr algn="l" marL="365760"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Uso do solo — MapBiomas real substituindo texto livre simulado</a:t>
            </a:r>
          </a:p>
          <a:p>
            <a:pPr algn="l" marL="365760"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Sensoriamento remoto — Landsat real substituindo planilha ilustrativa de 2026</a:t>
            </a:r>
          </a:p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Testes de guarda (tests/test_pipeline_paridade.py) impedem que uma nova fonte fique “configurada mas nunca lida” de novo, sem que alguém decida isso conscientemente.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2F6FB3"/>
                </a:solidFill>
                <a:latin typeface="Calibri Ligh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 Light"/>
              </a:rPr>
              <a:t>Análise Exploratória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CEA"/>
                </a:solidFill>
                <a:latin typeface="Calibri"/>
              </a:rPr>
              <a:t>O que o dado real revela sobre a qualidade da água do Tietê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Tendência histórica: IQA e Oxigênio Dissolvido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Medição real CETESB, 1978–2024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7/18</a:t>
            </a:r>
          </a:p>
        </p:txBody>
      </p:sp>
      <p:pic>
        <p:nvPicPr>
          <p:cNvPr id="8" name="Picture 7" descr="01_tendencia_iqa_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0983"/>
            <a:ext cx="11247120" cy="38932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6B"/>
                </a:solidFill>
                <a:latin typeface="Calibri"/>
              </a:rPr>
              <a:t>Contra-intuitivo: o Baixo Tietê tem o MELHOR IQA/OD da série, e o Alto Tietê o PIOR — efeito de diluição e reservatórios na foz, não geografia relativa à nascente.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Correlação entre variáveis-chave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Pearson, dado real, 3 trechos agrupados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8/18</a:t>
            </a:r>
          </a:p>
        </p:txBody>
      </p:sp>
      <p:pic>
        <p:nvPicPr>
          <p:cNvPr id="8" name="Picture 7" descr="02_correlaca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669280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137160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IQA e OD quase perfeitamente correlacionados (0,96) — esperado: ambos refletem o mesmo processo de poluição orgânica.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Atenção: “% Natural” aparece NEGATIVAMENTE correlacionado com IQA quando os 3 trechos são agrupados — Paradoxo de Simpson.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Baixo Tietê tem pouca área “natural” (reservatórios/agropecuária) mas o MELHOR IQA — a correlação pooled esconde essa diferença estrutural entre trechos.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Por isso o ML deste projeto treina um modelo POR TRECHO, nunca um único modelo global.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Uso do solo real (MapBiomas)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Coleção 9, 1985–2023 — buffer de 5 km ao redor das estações reais de cada trecho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9/18</a:t>
            </a:r>
          </a:p>
        </p:txBody>
      </p:sp>
      <p:pic>
        <p:nvPicPr>
          <p:cNvPr id="8" name="Picture 7" descr="03_uso_solo_mapbio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83486"/>
            <a:ext cx="11247120" cy="35482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6B"/>
                </a:solidFill>
                <a:latin typeface="Calibri"/>
              </a:rPr>
              <a:t>Alto Tietê: urbanização de 44% → 56% em 39 anos. Médio Tietê: agropecuária dominante, urbanização crescente (2% → 9%). Baixo Tietê: ~21–24% de água (reservatórios reais).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Sensoriamento remoto real (Landsat)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903 observações reais via Google Earth Engine, 7 pontos, 1984–2026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10/18</a:t>
            </a:r>
          </a:p>
        </p:txBody>
      </p:sp>
      <p:pic>
        <p:nvPicPr>
          <p:cNvPr id="8" name="Picture 7" descr="04_landsat_ndvi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0983"/>
            <a:ext cx="11247120" cy="38932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6B"/>
                </a:solidFill>
                <a:latin typeface="Calibri"/>
              </a:rPr>
              <a:t>NDVI mais alto e estável no Médio Tietê (mata ciliar mais preservada); Baixo Tietê, o mais baixo. Índices ainda NÃO calibrados contra medição in situ — tratados como indicativos.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2F6FB3"/>
                </a:solidFill>
                <a:latin typeface="Calibri Ligh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 Light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CEA"/>
                </a:solidFill>
                <a:latin typeface="Calibri"/>
              </a:rPr>
              <a:t>Modelos honestos: comparados sempre contra um baseline ingênuo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Arquitetura dos modelos de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RandomForestRegressor, um modelo por trecho e por alvo (IQA, OD)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12/18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>
              <a:spcAft>
                <a:spcPts val="10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●  Granularidade ANUAL, não mensal — corrige um vazamento real: o valor anual repetido em 12 meses inflava artificialmente a métrica do modelo antigo.</a:t>
            </a:r>
          </a:p>
          <a:p>
            <a:pPr algn="l" marL="0">
              <a:spcAft>
                <a:spcPts val="10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●  Um modelo POR TRECHO, não um único modelo global — a generalização cruzada entre trechos falhou (R² negativo em toda transferência Alto ↔ Médio ↔ Baixo).</a:t>
            </a:r>
          </a:p>
          <a:p>
            <a:pPr algn="l" marL="0">
              <a:spcAft>
                <a:spcPts val="10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●  Hiperparâmetros otimizados via GridSearchCV (5-fold, validação cruzada).</a:t>
            </a:r>
          </a:p>
          <a:p>
            <a:pPr algn="l" marL="0">
              <a:spcAft>
                <a:spcPts val="10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●  Validação walk-forward (janela expansiva) — mais robusta que um único split treino/teste para série temporal curta.</a:t>
            </a:r>
          </a:p>
          <a:p>
            <a:pPr algn="l" marL="0">
              <a:spcAft>
                <a:spcPts val="10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●  Treino restrito a dado observado (real) sempre que houver histórico suficiente; vazão excluída como preditora no Baixo Tietê (série estruturalmente inconsistente).</a:t>
            </a:r>
          </a:p>
          <a:p>
            <a:pPr algn="l" marL="0">
              <a:spcAft>
                <a:spcPts val="10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●  Uso do solo real (MapBiomas) integrado como preditora em todos os modelos.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Resultado: modelo vs. baseline ingênuo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Validação walk-forward — MAE médio por trecho e alvo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13/18</a:t>
            </a:r>
          </a:p>
        </p:txBody>
      </p:sp>
      <p:pic>
        <p:nvPicPr>
          <p:cNvPr id="8" name="Picture 7" descr="05_ml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234440"/>
            <a:ext cx="10661904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6B"/>
                </a:solidFill>
                <a:latin typeface="Calibri"/>
              </a:rPr>
              <a:t>Honestidade em primeiro lugar: no Alto Tietê o modelo NÃO supera a persistência ingênua (série curta e ruidosa). Médio e Baixo Tietê mostram ganho real (até −35% de MAE).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O que realmente influencia a qualidade da água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SHAP “drivers” — Médio Tietê / Oxigênio Dissolvido (sem os lags do próprio alvo)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14/18</a:t>
            </a:r>
          </a:p>
        </p:txBody>
      </p:sp>
      <p:pic>
        <p:nvPicPr>
          <p:cNvPr id="8" name="Picture 7" descr="medio_tiete_od_mg_l_drivers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8825"/>
            <a:ext cx="6400800" cy="34404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137160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Um modelo SHAP separado, sem as variáveis de “lag” do próprio alvo, isola o que realmente explica a qualidade da água — não só a autocorrelação da série.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“% Urbano/Industrial” é o 2º fator mais importante, atrás só da tendência secular (ano) — à frente até da vazão e da chuva.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“% Agropecuária” aparece em 3º — uso do solo real vira, pela primeira vez neste projeto, um driver interpretável da qualidade da água.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Modelo de produção continua usando os lags (mais preciso para previsão); este SHAP “drivers” serve só para interpretação causal-adjacente.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Clima real: ERA5 e CMIP6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Copernicus Climate Data Store — reanálise histórica e projeções futuras, já executadas contra dado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15/18</a:t>
            </a:r>
          </a:p>
        </p:txBody>
      </p:sp>
      <p:pic>
        <p:nvPicPr>
          <p:cNvPr id="8" name="Picture 7" descr="08_era5_reanalis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48890"/>
            <a:ext cx="6400800" cy="2400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137160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ERA5 (reanálise real, 2020–2026): confirma o padrão sazonal esperado — chuva concentrada out-mar (até ~280 mm/mês), seca jun-ago (por vezes &lt;5 mm/mês).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CMIP6: calibração real do cenário SSP5-8.5 (2040-2060) vs. baseline histórico (1995-2014, IPCC AR6), modelo mpi_esm1_2_lr.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Resultado real: fator_clima = 0,982 — o cenário mais extremo de emissões fica só ~1,8% mais seco que o baseline, MUITO menos severo que o proxy fixo de −25% usado antes no ABM.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●  Esse número já substitui o proxy fixo em produção (models.abm.clima_real) — a tela "Cenários Futuros" do dashboard reflete o clima real a partir de agora.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Modelagem baseada em agentes (ABM)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Simulação da evolução da qualidade da água sob diferentes cenários de política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16/18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Framework Mesa: cada trecho é um agente que evolui mês a mês a partir da climatologia histórica e dos parâmetros do cenário escolhido.</a:t>
            </a:r>
          </a:p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Conectividade espacial montante → jusante: um desvio no Alto Tietê propaga carga poluidora para Médio e Baixo Tietê, não fica isolado no trecho de origem.</a:t>
            </a:r>
          </a:p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Cenários simuláveis: saneamento, fiscalização, uso de agrotóxicos, outorga de água, mudança climática (agora calibrável via CMIP6 real).</a:t>
            </a:r>
          </a:p>
          <a:p>
            <a:pPr algn="l" marL="0"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●  Cena 3D interativa no dashboard (“Cenários Futuros”): trajetória da água simulada, com controles de horizonte temporal e clima.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Dashboard interativo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9DCEA"/>
                </a:solidFill>
                <a:latin typeface="Calibri"/>
              </a:rPr>
              <a:t>Streamlit multi-página, consumindo direto as tabelas Gold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17/18</a:t>
            </a:r>
          </a:p>
        </p:txBody>
      </p:sp>
      <p:pic>
        <p:nvPicPr>
          <p:cNvPr id="8" name="Picture 7" descr="06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4946"/>
            <a:ext cx="5394960" cy="3468188"/>
          </a:xfrm>
          <a:prstGeom prst="rect">
            <a:avLst/>
          </a:prstGeom>
        </p:spPr>
      </p:pic>
      <p:pic>
        <p:nvPicPr>
          <p:cNvPr id="9" name="Picture 8" descr="07_mapa_intera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24297"/>
            <a:ext cx="5669280" cy="4049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6B"/>
                </a:solidFill>
                <a:latin typeface="Calibri"/>
              </a:rPr>
              <a:t>Mapa Interativo agora mostra sensoriamento remoto REAL (Landsat), com marcador colorido por proveniência: real / misto / ilustrativo.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 Light"/>
              </a:rPr>
              <a:t>Limitações, próximos passos e 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385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WaterWeave-Tietê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63854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18/18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●  Limitações conhecidas:</a:t>
            </a:r>
          </a:p>
          <a:p>
            <a:pPr algn="l" marL="365760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–  Índices espectrais do Landsat (NDVI, proxy de turbidez) ainda não calibrados contra medição in situ do Tietê</a:t>
            </a:r>
          </a:p>
          <a:p>
            <a:pPr algn="l" marL="365760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–  Calibração CMIP6 baseada em UM único modelo (mpi_esm1_2_lr), não um ensemble multi-modelo</a:t>
            </a:r>
          </a:p>
          <a:p>
            <a:pPr algn="l" marL="365760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–  Uso do solo/sensoriamento remoto ainda não entram como preditor causal validado, só correlacional</a:t>
            </a:r>
          </a:p>
          <a:p>
            <a:pPr algn="l" marL="365760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–  Resolução espacial do clima (~28–250 km) é muito mais grossa que a rede de monitoramento pontual</a:t>
            </a:r>
          </a:p>
          <a:p>
            <a:pPr algn="l" marL="0"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●  Próximos passos:</a:t>
            </a:r>
          </a:p>
          <a:p>
            <a:pPr algn="l" marL="365760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–  Religar a reanálise ERA5 para calibrar a variabilidade climática do ABM (hoje só-DAEE)</a:t>
            </a:r>
          </a:p>
          <a:p>
            <a:pPr algn="l" marL="365760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–  Validar manualmente os índices Landsat contra literatura e, se possível, campo</a:t>
            </a:r>
          </a:p>
          <a:p>
            <a:pPr algn="l" marL="365760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–  Ensemble multi-modelo CMIP6 (reduzir incerteza estrutural de um único modelo)</a:t>
            </a:r>
          </a:p>
          <a:p>
            <a:pPr algn="l" marL="0"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●  Conclusão: um pipeline reprodutível, com dado real priorizado em cada camada, ML auditado e comparado sempre contra um baseline honesto, e um dashboard interativo — base sólida para os próximos passos da pesquisa de pós-doutorado.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