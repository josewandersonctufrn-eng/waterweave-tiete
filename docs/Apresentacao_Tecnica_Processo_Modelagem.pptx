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Processo de Modelagem: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Agregação de Dados e Arquitetura de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971800"/>
            <a:ext cx="411480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9A227"/>
                </a:solidFill>
                <a:latin typeface="Calibri"/>
              </a:rPr>
              <a:t>WaterWeave-Tietê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B8CCDE"/>
                </a:solidFill>
                <a:latin typeface="Calibri"/>
              </a:rPr>
              <a:t>Apresentação técnica — pipeline Bronze/Silver/Gold, engenharia de features, RandomForest por trecho, validação e auditoria de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89199"/>
                </a:solidFill>
                <a:latin typeface="Calibri"/>
              </a:rPr>
              <a:t>Agosto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227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417320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A1A1A"/>
                </a:solidFill>
                <a:latin typeface="Calibri"/>
              </a:rPr>
              <a:t>Arquitetura de dados (Medallion): Bronze / Silver / Gold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51660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227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A1A1A"/>
                </a:solidFill>
                <a:latin typeface="Calibri"/>
              </a:rPr>
              <a:t>Funil de agregação: da medição pontual à linha (trecho, ano)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227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286000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A1A1A"/>
                </a:solidFill>
                <a:latin typeface="Calibri"/>
              </a:rPr>
              <a:t>Classificação espacial: trechos e geometria de uso do solo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20340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227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720340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A1A1A"/>
                </a:solidFill>
                <a:latin typeface="Calibri"/>
              </a:rPr>
              <a:t>Granularidade temporal e o vazamento estrutural corrigido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54680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227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154680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A1A1A"/>
                </a:solidFill>
                <a:latin typeface="Calibri"/>
              </a:rPr>
              <a:t>Matriz de features: preditoras de produção vs. preditoras "drivers"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89020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227"/>
                </a:solidFill>
                <a:latin typeface="Calibri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589020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A1A1A"/>
                </a:solidFill>
                <a:latin typeface="Calibri"/>
              </a:rPr>
              <a:t>Imputação controlada (regras e flags de proveniência)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23360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227"/>
                </a:solidFill>
                <a:latin typeface="Calibri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023360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A1A1A"/>
                </a:solidFill>
                <a:latin typeface="Calibri"/>
              </a:rPr>
              <a:t>Arquitetura do modelo: RandomForest por trecho + busca de hiperparâmetros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457700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227"/>
                </a:solidFill>
                <a:latin typeface="Calibri"/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457700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A1A1A"/>
                </a:solidFill>
                <a:latin typeface="Calibri"/>
              </a:rPr>
              <a:t>Validação: split temporal, walk-forward e baseline de persistência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892040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227"/>
                </a:solidFill>
                <a:latin typeface="Calibri"/>
              </a:rP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892040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A1A1A"/>
                </a:solidFill>
                <a:latin typeface="Calibri"/>
              </a:rPr>
              <a:t>Resultados reais (MAE por trecho/alvo)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26380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227"/>
                </a:solidFill>
                <a:latin typeface="Calibri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326380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A1A1A"/>
                </a:solidFill>
                <a:latin typeface="Calibri"/>
              </a:rPr>
              <a:t>Auditoria de ML 2026-07: 4 achados corrigidos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760720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227"/>
                </a:solidFill>
                <a:latin typeface="Calibri"/>
              </a:rP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760720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A1A1A"/>
                </a:solidFill>
                <a:latin typeface="Calibri"/>
              </a:rPr>
              <a:t>Limitações assumidas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Processo de Modelagem — WaterWeave-Tietê · apresentação técnica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31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C9A227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46888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Arquitetura de Dados (Medallion)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55697A"/>
                </a:solidFill>
                <a:latin typeface="Calibri"/>
              </a:rPr>
              <a:t>Implementada com deltalake (bindings Python do delta-rs) — tabelas Delta reais, log de transação ACID, particionamento físico por trecho, sem exigir infraestrutura Spark/Hadoop.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3520440" cy="1965960"/>
          </a:xfrm>
          <a:prstGeom prst="roundRect">
            <a:avLst/>
          </a:prstGeom>
          <a:solidFill>
            <a:srgbClr val="FDF6E0"/>
          </a:solidFill>
          <a:ln w="222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F2E44"/>
                </a:solidFill>
                <a:latin typeface="Calibri"/>
              </a:rPr>
              <a:t>BRONZE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697A"/>
                </a:solidFill>
                <a:latin typeface="Calibri"/>
              </a:rPr>
              <a:t>Espelho fiel da fonte bruta + proveniência (origem do dado e do arquivo-fonte)</a:t>
            </a:r>
          </a:p>
        </p:txBody>
      </p:sp>
      <p:sp>
        <p:nvSpPr>
          <p:cNvPr id="10" name="Chevron 9"/>
          <p:cNvSpPr/>
          <p:nvPr/>
        </p:nvSpPr>
        <p:spPr>
          <a:xfrm>
            <a:off x="4251960" y="2948940"/>
            <a:ext cx="228600" cy="365760"/>
          </a:xfrm>
          <a:prstGeom prst="chevron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26280" y="2148840"/>
            <a:ext cx="3520440" cy="1965960"/>
          </a:xfrm>
          <a:prstGeom prst="roundRect">
            <a:avLst/>
          </a:prstGeom>
          <a:solidFill>
            <a:srgbClr val="E8F0FA"/>
          </a:solidFill>
          <a:ln w="2222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33172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F2E44"/>
                </a:solidFill>
                <a:latin typeface="Calibri"/>
              </a:rPr>
              <a:t>SILVER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834640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697A"/>
                </a:solidFill>
                <a:latin typeface="Calibri"/>
              </a:rPr>
              <a:t>Schema único, limpo — granularidade por posto/estação/trecho</a:t>
            </a:r>
          </a:p>
        </p:txBody>
      </p:sp>
      <p:sp>
        <p:nvSpPr>
          <p:cNvPr id="14" name="Chevron 13"/>
          <p:cNvSpPr/>
          <p:nvPr/>
        </p:nvSpPr>
        <p:spPr>
          <a:xfrm>
            <a:off x="8092440" y="2948940"/>
            <a:ext cx="228600" cy="365760"/>
          </a:xfrm>
          <a:prstGeom prst="chevron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66760" y="2148840"/>
            <a:ext cx="3520440" cy="1965960"/>
          </a:xfrm>
          <a:prstGeom prst="roundRect">
            <a:avLst/>
          </a:prstGeom>
          <a:solidFill>
            <a:srgbClr val="E4F3E8"/>
          </a:solidFill>
          <a:ln w="22225">
            <a:solidFill>
              <a:srgbClr val="2F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33172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F2E44"/>
                </a:solidFill>
                <a:latin typeface="Calibri"/>
              </a:rPr>
              <a:t>GOLD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834640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697A"/>
                </a:solidFill>
                <a:latin typeface="Calibri"/>
              </a:rPr>
              <a:t>Agregações finais por trecho/ano — consumidas por ML, ABM e 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434840"/>
            <a:ext cx="10835640" cy="141732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599432"/>
            <a:ext cx="10195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F5FA8"/>
                </a:solidFill>
                <a:latin typeface="Calibri"/>
              </a:rPr>
              <a:t>Orquestração: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010912"/>
            <a:ext cx="1019556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0F2E44"/>
                </a:solidFill>
                <a:latin typeface="Calibri"/>
              </a:rPr>
              <a:t>Orquestrador único (monthly_job) executa Bronze → conectores em tempo real (ANA/SNIRH, MapBiomas/Earth Engine, Landsat, Copernicus CDS) → Silver → Gold, com execução automática via GitHub Actions a cada push/PR.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Processo de Modelagem — WaterWeave-Tietê · apresentação técnica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31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C9A227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46888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Funil de Agregação: da Medição Pontual à Linha de Treino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2487853" cy="2423160"/>
          </a:xfrm>
          <a:prstGeom prst="roundRect">
            <a:avLst/>
          </a:prstGeom>
          <a:solidFill>
            <a:srgbClr val="FDF6E0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75687"/>
            <a:ext cx="221353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50" b="1" i="0">
                <a:solidFill>
                  <a:srgbClr val="0F2E44"/>
                </a:solidFill>
                <a:latin typeface="Calibri"/>
              </a:rPr>
              <a:t>Bronze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606039"/>
            <a:ext cx="2268397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55697A"/>
                </a:solidFill>
                <a:latin typeface="Calibri"/>
              </a:rPr>
              <a:t>1 linha = 1 estação,
1 data, 1 parâmetro
(formato longo)</a:t>
            </a:r>
          </a:p>
        </p:txBody>
      </p:sp>
      <p:sp>
        <p:nvSpPr>
          <p:cNvPr id="9" name="Chevron 8"/>
          <p:cNvSpPr/>
          <p:nvPr/>
        </p:nvSpPr>
        <p:spPr>
          <a:xfrm>
            <a:off x="2990773" y="2903219"/>
            <a:ext cx="411480" cy="365760"/>
          </a:xfrm>
          <a:prstGeom prst="chevron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02253" y="1874519"/>
            <a:ext cx="2487853" cy="242316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9413" y="2075687"/>
            <a:ext cx="221353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50" b="1" i="0">
                <a:solidFill>
                  <a:srgbClr val="0F2E44"/>
                </a:solidFill>
                <a:latin typeface="Calibri"/>
              </a:rPr>
              <a:t>Silver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1981" y="2606039"/>
            <a:ext cx="2268397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55697A"/>
                </a:solidFill>
                <a:latin typeface="Calibri"/>
              </a:rPr>
              <a:t>1 linha = 1 posto,
1 mês (média)
Tabelas de vazão e chuva</a:t>
            </a:r>
          </a:p>
        </p:txBody>
      </p:sp>
      <p:sp>
        <p:nvSpPr>
          <p:cNvPr id="13" name="Chevron 12"/>
          <p:cNvSpPr/>
          <p:nvPr/>
        </p:nvSpPr>
        <p:spPr>
          <a:xfrm>
            <a:off x="5890107" y="2903219"/>
            <a:ext cx="411480" cy="365760"/>
          </a:xfrm>
          <a:prstGeom prst="chevron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1587" y="1874519"/>
            <a:ext cx="2487853" cy="242316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8747" y="2075687"/>
            <a:ext cx="221353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50" b="1" i="0">
                <a:solidFill>
                  <a:srgbClr val="0F2E44"/>
                </a:solidFill>
                <a:latin typeface="Calibri"/>
              </a:rPr>
              <a:t>Gold (mês)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1315" y="2606039"/>
            <a:ext cx="2268397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55697A"/>
                </a:solidFill>
                <a:latin typeface="Calibri"/>
              </a:rPr>
              <a:t>1 linha = 1 trecho,
1 mês
Tabela mensal (exibição)</a:t>
            </a:r>
          </a:p>
        </p:txBody>
      </p:sp>
      <p:sp>
        <p:nvSpPr>
          <p:cNvPr id="17" name="Chevron 16"/>
          <p:cNvSpPr/>
          <p:nvPr/>
        </p:nvSpPr>
        <p:spPr>
          <a:xfrm>
            <a:off x="8789441" y="2903219"/>
            <a:ext cx="411480" cy="365760"/>
          </a:xfrm>
          <a:prstGeom prst="chevron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00921" y="1874519"/>
            <a:ext cx="2487853" cy="2423160"/>
          </a:xfrm>
          <a:prstGeom prst="roundRect">
            <a:avLst/>
          </a:prstGeom>
          <a:solidFill>
            <a:srgbClr val="E4F3E8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8081" y="2075687"/>
            <a:ext cx="221353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50" b="1" i="0">
                <a:solidFill>
                  <a:srgbClr val="0F2E44"/>
                </a:solidFill>
                <a:latin typeface="Calibri"/>
              </a:rPr>
              <a:t>Gold (ano)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0649" y="2606039"/>
            <a:ext cx="2268397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55697A"/>
                </a:solidFill>
                <a:latin typeface="Calibri"/>
              </a:rPr>
              <a:t>1 linha = 1 trecho,
1 ano
Tabela anual (treino do modelo)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663440"/>
            <a:ext cx="11185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55697A"/>
                </a:solidFill>
                <a:latin typeface="Calibri"/>
              </a:rPr>
              <a:t>Vazão e chuva permanecem redes físicas separadas até a agregação por trecho — postos fluviométricos e pluviométricos nunca são fundidos por posto individual.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Processo de Modelagem — WaterWeave-Tietê · apresentação técnica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31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C9A227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46888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Fontes Reais Integradas, por Camada de Agregação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834640"/>
                <a:gridCol w="3840480"/>
                <a:gridCol w="1828800"/>
              </a:tblGrid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Fonte real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Camada de entrada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Agregação aplicada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Cobertura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CETESB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Bronze (formato longo) → Silver (tabela larga)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Média anual por trecho, censura analítica tratada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1978–2024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ANA/SNIRH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Bronze (anexado direto)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Média mensal por posto → média por trecho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+1.762 vazão / +6.355 chuva (2000–2026)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MapBiomas Coleção 9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Bronze (agregação no servidor) → Silver (tabela larga)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% de área por macro-categoria, buffer 5 km/estação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1985–2023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Landsat (Earth Engine)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Silver (série histórica de sensoriamento)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Índices espectrais por trecho/ano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1984–presente (não é preditora de ML ainda)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Copernicus CDS (ERA5/CMIP6)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Arquivo de calibração climática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Fator de calibração único (não integrado à matriz de features)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baseline 1995–2014 vs. SSP5-8.5 2040–2060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62356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55697A"/>
                </a:solidFill>
                <a:latin typeface="Calibri"/>
              </a:rPr>
              <a:t>Landsat e ERA5/CMIP6 alimentam, respectivamente, o Mapa Interativo e o cenário climático do ABM — nenhum dos dois entra hoje na matriz de features do ML supervisionado.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Processo de Modelagem — WaterWeave-Tietê · apresentação técnica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31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C9A227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46888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Classificação Espacial: Trechos e Geometria de Uso do Solo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300" b="1">
                <a:solidFill>
                  <a:srgbClr val="1F5FA8"/>
                </a:solidFill>
              </a:rPr>
              <a:t>●  </a:t>
            </a:r>
            <a:r>
              <a:rPr b="1" sz="1500">
                <a:solidFill>
                  <a:srgbClr val="0F2E44"/>
                </a:solidFill>
                <a:latin typeface="Calibri"/>
              </a:rPr>
              <a:t>Trechos — </a:t>
            </a:r>
            <a:r>
              <a:rPr sz="1500">
                <a:solidFill>
                  <a:srgbClr val="1A1A1A"/>
                </a:solidFill>
                <a:latin typeface="Calibri"/>
              </a:rPr>
              <a:t>as 32 estações reais de monitoramento são classificadas em Alto/Médio/Baixo Tietê por posição geográfica real ao longo do curso do rio (não por divisão administrativa).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300" b="1">
                <a:solidFill>
                  <a:srgbClr val="1F5FA8"/>
                </a:solidFill>
              </a:rPr>
              <a:t>●  </a:t>
            </a:r>
            <a:r>
              <a:rPr b="1" sz="1500">
                <a:solidFill>
                  <a:srgbClr val="0F2E44"/>
                </a:solidFill>
                <a:latin typeface="Calibri"/>
              </a:rPr>
              <a:t>Uso do solo (MapBiomas) — </a:t>
            </a:r>
            <a:r>
              <a:rPr sz="1500">
                <a:solidFill>
                  <a:srgbClr val="1A1A1A"/>
                </a:solidFill>
                <a:latin typeface="Calibri"/>
              </a:rPr>
              <a:t>sem delimitação de sub-bacia hidrográfica disponível (exigiria DEM + acumulação de fluxo), a geometria de interesse é a união de buffers de 5 km ao redor de cada estação real do trecho, com a agregação espacial executada no lado do servidor do Earth Engine — não baixa imagem raster.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794760"/>
            <a:ext cx="10972800" cy="1828800"/>
          </a:xfrm>
          <a:prstGeom prst="roundRect">
            <a:avLst/>
          </a:prstGeom>
          <a:solidFill>
            <a:srgbClr val="FBECEC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935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0392B"/>
                </a:solidFill>
                <a:latin typeface="Calibri"/>
              </a:rPr>
              <a:t>Limitação estrutural conhecida: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70832"/>
            <a:ext cx="10332720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1F1A"/>
                </a:solidFill>
                <a:latin typeface="Calibri"/>
              </a:rPr>
              <a:t>10 estações no Alto Tietê, 20 no Médio, apenas 2 no Baixo — a geometria do Baixo Tietê é necessariamente mais esparsa, limitação documentada e propagada, não escondida. É um proxy da vizinhança de monitoramento, não a bacia de drenagem real a montante.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Processo de Modelagem — WaterWeave-Tietê · apresentação técnica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31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C9A227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46888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Granularidade Temporal e o Vazamento Estrutural Corrigido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55697A"/>
                </a:solidFill>
                <a:latin typeface="Calibri"/>
              </a:rPr>
              <a:t>A qualidade da água (IQA, OD) só existe na fonte real em granularidade ANUAL. A versão mensal do feature store repetia o valor anual do ano nos 12 meses correspondentes para casar com a granularidade de vazão/chuva.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514600"/>
            <a:ext cx="5349240" cy="3017520"/>
          </a:xfrm>
          <a:prstGeom prst="roundRect">
            <a:avLst/>
          </a:prstGeom>
          <a:solidFill>
            <a:srgbClr val="FBECEC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0392B"/>
                </a:solidFill>
                <a:latin typeface="Calibri"/>
              </a:rPr>
              <a:t>Granularidade mensal (legado)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48006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1F1A"/>
                </a:solidFill>
                <a:latin typeface="Calibri"/>
              </a:rPr>
              <a:t>Valor anual repetido em 11 dos 12 meses do ano ⇒ o lag de 1 mês é quase sempre IGUAL ao próprio alvo. O modelo, na prática, copiava um valor já conhecido — não previa genuinamente. O vazamento só ficou visível ao introduzir um baseline de persistência para comparação.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514600"/>
            <a:ext cx="5349240" cy="3017520"/>
          </a:xfrm>
          <a:prstGeom prst="roundRect">
            <a:avLst/>
          </a:prstGeom>
          <a:solidFill>
            <a:srgbClr val="E4F3E8"/>
          </a:solidFill>
          <a:ln w="19050">
            <a:solidFill>
              <a:srgbClr val="2F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69748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F9E4F"/>
                </a:solidFill>
                <a:latin typeface="Calibri"/>
              </a:rPr>
              <a:t>Granularidade anual (atual)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108960"/>
            <a:ext cx="48006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B5E30"/>
                </a:solidFill>
                <a:latin typeface="Calibri"/>
              </a:rPr>
              <a:t>Tabela anual dedicada: uma linha por (trecho, ano), sem repetição — mesma granularidade real da variável-alvo. Constrói lags/média móvel diretamente sobre a série anual real, sem passar pela série mensal de exibição.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Processo de Modelagem — WaterWeave-Tietê · apresentação técnica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31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C9A227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46888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Matriz de Preditoras: Produção vs. Drivers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5486400" cy="489204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5FA8"/>
                </a:solidFill>
                <a:latin typeface="Calibri"/>
              </a:rPr>
              <a:t>Preditoras de produção (com lags)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49377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050" b="1">
                <a:solidFill>
                  <a:srgbClr val="1F5FA8"/>
                </a:solidFill>
              </a:rPr>
              <a:t>●  </a:t>
            </a:r>
            <a:r>
              <a:rPr sz="1250">
                <a:solidFill>
                  <a:srgbClr val="1A1A1A"/>
                </a:solidFill>
                <a:latin typeface="Calibri"/>
              </a:rPr>
              <a:t>ano (tendência secular, Mann-Kendall significativa)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050" b="1">
                <a:solidFill>
                  <a:srgbClr val="1F5FA8"/>
                </a:solidFill>
              </a:rPr>
              <a:t>●  </a:t>
            </a:r>
            <a:r>
              <a:rPr sz="1250">
                <a:solidFill>
                  <a:srgbClr val="1A1A1A"/>
                </a:solidFill>
                <a:latin typeface="Calibri"/>
              </a:rPr>
              <a:t>vazão média (removida no Baixo Tietê)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050" b="1">
                <a:solidFill>
                  <a:srgbClr val="1F5FA8"/>
                </a:solidFill>
              </a:rPr>
              <a:t>●  </a:t>
            </a:r>
            <a:r>
              <a:rPr sz="1250">
                <a:solidFill>
                  <a:srgbClr val="1A1A1A"/>
                </a:solidFill>
                <a:latin typeface="Calibri"/>
              </a:rPr>
              <a:t>chuva média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050" b="1">
                <a:solidFill>
                  <a:srgbClr val="1F5FA8"/>
                </a:solidFill>
              </a:rPr>
              <a:t>●  </a:t>
            </a:r>
            <a:r>
              <a:rPr sz="1250">
                <a:solidFill>
                  <a:srgbClr val="1A1A1A"/>
                </a:solidFill>
                <a:latin typeface="Calibri"/>
              </a:rPr>
              <a:t>% natural / agropecuária / urbano-industrial / água (MapBiomas real)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050" b="1">
                <a:solidFill>
                  <a:srgbClr val="1F5FA8"/>
                </a:solidFill>
              </a:rPr>
              <a:t>●  </a:t>
            </a:r>
            <a:r>
              <a:rPr sz="1250">
                <a:solidFill>
                  <a:srgbClr val="1A1A1A"/>
                </a:solidFill>
                <a:latin typeface="Calibri"/>
              </a:rPr>
              <a:t>IQA: lag 1a, 2a, 3a + média móvel 5a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050" b="1">
                <a:solidFill>
                  <a:srgbClr val="1F5FA8"/>
                </a:solidFill>
              </a:rPr>
              <a:t>●  </a:t>
            </a:r>
            <a:r>
              <a:rPr sz="1250">
                <a:solidFill>
                  <a:srgbClr val="1A1A1A"/>
                </a:solidFill>
                <a:latin typeface="Calibri"/>
              </a:rPr>
              <a:t>OD: lag 1a, 2a, 3a + média móvel 5a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48640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5697A"/>
                </a:solidFill>
                <a:latin typeface="Calibri"/>
              </a:rPr>
              <a:t>Uso: modelo de produção (RandomForest) — otimizado para precisão de previsão de curto prazo.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25880"/>
            <a:ext cx="5486400" cy="4892040"/>
          </a:xfrm>
          <a:prstGeom prst="roundRect">
            <a:avLst/>
          </a:prstGeom>
          <a:solidFill>
            <a:srgbClr val="E4F3E8"/>
          </a:solidFill>
          <a:ln w="19050">
            <a:solidFill>
              <a:srgbClr val="2F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63040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F9E4F"/>
                </a:solidFill>
                <a:latin typeface="Calibri"/>
              </a:rPr>
              <a:t>Preditoras "drivers" (sem lags)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65960"/>
            <a:ext cx="49377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050" b="1">
                <a:solidFill>
                  <a:srgbClr val="2F9E4F"/>
                </a:solidFill>
              </a:rPr>
              <a:t>●  </a:t>
            </a:r>
            <a:r>
              <a:rPr sz="1250">
                <a:solidFill>
                  <a:srgbClr val="1A1A1A"/>
                </a:solidFill>
                <a:latin typeface="Calibri"/>
              </a:rPr>
              <a:t>ano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050" b="1">
                <a:solidFill>
                  <a:srgbClr val="2F9E4F"/>
                </a:solidFill>
              </a:rPr>
              <a:t>●  </a:t>
            </a:r>
            <a:r>
              <a:rPr sz="1250">
                <a:solidFill>
                  <a:srgbClr val="1A1A1A"/>
                </a:solidFill>
                <a:latin typeface="Calibri"/>
              </a:rPr>
              <a:t>vazão média (removida no Baixo Tietê)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050" b="1">
                <a:solidFill>
                  <a:srgbClr val="2F9E4F"/>
                </a:solidFill>
              </a:rPr>
              <a:t>●  </a:t>
            </a:r>
            <a:r>
              <a:rPr sz="1250">
                <a:solidFill>
                  <a:srgbClr val="1A1A1A"/>
                </a:solidFill>
                <a:latin typeface="Calibri"/>
              </a:rPr>
              <a:t>chuva média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050" b="1">
                <a:solidFill>
                  <a:srgbClr val="2F9E4F"/>
                </a:solidFill>
              </a:rPr>
              <a:t>●  </a:t>
            </a:r>
            <a:r>
              <a:rPr sz="1250">
                <a:solidFill>
                  <a:srgbClr val="1A1A1A"/>
                </a:solidFill>
                <a:latin typeface="Calibri"/>
              </a:rPr>
              <a:t>% natural / agropecuária / urbano-industrial / água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160520"/>
            <a:ext cx="49377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B5E30"/>
                </a:solidFill>
                <a:latin typeface="Calibri"/>
              </a:rPr>
              <a:t>Sem os lags do próprio alvo — usada exclusivamente para SHAP de interpretação causal-adjacente (o que reduz a poluição), NUNCA para o modelo de produção. Os lags dominam o SHAP de produção por serem, genuinamente, a feature mais forte numa série com autocorrelação temporal real — adequado para previsão, inútil para essa pergunta.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Processo de Modelagem — WaterWeave-Tietê · apresentação técnica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31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C9A227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46888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Imputação Controlada e Proveniência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88136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291840"/>
                <a:gridCol w="2286000"/>
                <a:gridCol w="2194560"/>
              </a:tblGrid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Variável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Regra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Limite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Direção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</a:rPr>
                        <a:t>Vazão / chuva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Forward-fill dentro do trecho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2 anos consecutivos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→ (só adiante)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</a:rPr>
                        <a:t>Uso do solo (% por categoria)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Forward-fill + backward-fill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10 anos consecutivos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↔ (ambas)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</a:rPr>
                        <a:t>IQA / OD (lags do alvo)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NENHUMA imputação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lacuna preservada como NaN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429000"/>
            <a:ext cx="108813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150" b="1">
                <a:solidFill>
                  <a:srgbClr val="1F5FA8"/>
                </a:solidFill>
              </a:rPr>
              <a:t>●  </a:t>
            </a:r>
            <a:r>
              <a:rPr b="1" sz="1350">
                <a:solidFill>
                  <a:srgbClr val="0F2E44"/>
                </a:solidFill>
                <a:latin typeface="Calibri"/>
              </a:rPr>
              <a:t>Por que limites diferentes — </a:t>
            </a:r>
            <a:r>
              <a:rPr sz="1350">
                <a:solidFill>
                  <a:srgbClr val="1A1A1A"/>
                </a:solidFill>
                <a:latin typeface="Calibri"/>
              </a:rPr>
              <a:t>vazão/chuva têm variabilidade interanual real; um limite curto evita simular um regime hidrológico sobre uma lacuna grande. Uso do solo muda devagar ("não há seca de uso do solo"), então um limite maior é defensável.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150" b="1">
                <a:solidFill>
                  <a:srgbClr val="1F5FA8"/>
                </a:solidFill>
              </a:rPr>
              <a:t>●  </a:t>
            </a:r>
            <a:r>
              <a:rPr b="1" sz="1350">
                <a:solidFill>
                  <a:srgbClr val="0F2E44"/>
                </a:solidFill>
                <a:latin typeface="Calibri"/>
              </a:rPr>
              <a:t>Por que não imputar o alvo — </a:t>
            </a:r>
            <a:r>
              <a:rPr sz="1350">
                <a:solidFill>
                  <a:srgbClr val="1A1A1A"/>
                </a:solidFill>
                <a:latin typeface="Calibri"/>
              </a:rPr>
              <a:t>uma lacuna real no próprio IQA/OD significa "não sabemos o valor de X anos atrás" — imputar esconderia incerteza genuína sobre o alvo, diferente de uma preditora exógena.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150" b="1">
                <a:solidFill>
                  <a:srgbClr val="1F5FA8"/>
                </a:solidFill>
              </a:rPr>
              <a:t>●  </a:t>
            </a:r>
            <a:r>
              <a:rPr b="1" sz="1350">
                <a:solidFill>
                  <a:srgbClr val="0F2E44"/>
                </a:solidFill>
                <a:latin typeface="Calibri"/>
              </a:rPr>
              <a:t>Rastreabilidade — </a:t>
            </a:r>
            <a:r>
              <a:rPr sz="1350">
                <a:solidFill>
                  <a:srgbClr val="1A1A1A"/>
                </a:solidFill>
                <a:latin typeface="Calibri"/>
              </a:rPr>
              <a:t>cada coluna imputada tem uma coluna irmã booleana correspondente, indicando se aquele valor foi preenchido — nenhum valor completado é indistinguível de uma medição real.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Processo de Modelagem — WaterWeave-Tietê · apresentação técnica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31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C9A227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46888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Arquitetura do Modelo: RandomForest por Trecho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5697A"/>
                </a:solidFill>
                <a:latin typeface="Calibri"/>
              </a:rPr>
              <a:t>3 modelos de Random Forest independentes (Alto/Médio/Baixo) por variável-alvo (IQA, OD) — 6 modelos no total. Um modelo único com o trecho como variável categórica teve R² negativo em toda transferência cruzada entre trechos (ver auditoria, slide 13).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63040" y="2468880"/>
          <a:ext cx="92354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539496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Hiperparâmetro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Grade de busca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</a:rPr>
                        <a:t>Número de árvores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</a:rPr>
                        <a:t>100 · 200 · 300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</a:rPr>
                        <a:t>Profundidade máxima de cada árvore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</a:rPr>
                        <a:t>3 · 4 · 6 · sem limite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</a:rPr>
                        <a:t>Mínimo de amostras por folha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</a:rPr>
                        <a:t>1 · 2 · 4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</a:rPr>
                        <a:t>Fração de variáveis avaliada por divisão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</a:rPr>
                        <a:t>raiz quadrada · 50% · 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0749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1">
                <a:solidFill>
                  <a:srgbClr val="55697A"/>
                </a:solidFill>
                <a:latin typeface="Calibri"/>
              </a:rPr>
              <a:t>Busca em grade com validação cruzada de 5 partições, otimizando o erro absoluto médio (MAE). Grade deliberadamente modesta — com ~65 linhas de treino por trecho, uma grade grande só encontraria combinações ajustadas ao ruído da validação cruzada, não um padrão real.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Processo de Modelagem — WaterWeave-Tietê · apresentação técnica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31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C9A227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46888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Validação: Split Temporal, Walk-Forward e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300" b="1">
                <a:solidFill>
                  <a:srgbClr val="1F5FA8"/>
                </a:solidFill>
              </a:rPr>
              <a:t>●  </a:t>
            </a:r>
            <a:r>
              <a:rPr b="1" sz="1500">
                <a:solidFill>
                  <a:srgbClr val="0F2E44"/>
                </a:solidFill>
                <a:latin typeface="Calibri"/>
              </a:rPr>
              <a:t>Split temporal — </a:t>
            </a:r>
            <a:r>
              <a:rPr sz="1500">
                <a:solidFill>
                  <a:srgbClr val="1A1A1A"/>
                </a:solidFill>
                <a:latin typeface="Calibri"/>
              </a:rPr>
              <a:t>treino com anos &lt; 2015, teste com anos ≥ 2015. Nunca embaralhado aleatoriamente — evita que o modelo "veja o futuro" durante o treino.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300" b="1">
                <a:solidFill>
                  <a:srgbClr val="1F5FA8"/>
                </a:solidFill>
              </a:rPr>
              <a:t>●  </a:t>
            </a:r>
            <a:r>
              <a:rPr b="1" sz="1500">
                <a:solidFill>
                  <a:srgbClr val="0F2E44"/>
                </a:solidFill>
                <a:latin typeface="Calibri"/>
              </a:rPr>
              <a:t>Walk-forward (expanding window) — </a:t>
            </a:r>
            <a:r>
              <a:rPr sz="1500">
                <a:solidFill>
                  <a:srgbClr val="1A1A1A"/>
                </a:solidFill>
                <a:latin typeface="Calibri"/>
              </a:rPr>
              <a:t>11 folds por trecho/alvo, testando o modelo ano a ano com janela de treino crescente — revela estabilidade temporal, não só um número médio agregado.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300" b="1">
                <a:solidFill>
                  <a:srgbClr val="1F5FA8"/>
                </a:solidFill>
              </a:rPr>
              <a:t>●  </a:t>
            </a:r>
            <a:r>
              <a:rPr b="1" sz="1500">
                <a:solidFill>
                  <a:srgbClr val="0F2E44"/>
                </a:solidFill>
                <a:latin typeface="Calibri"/>
              </a:rPr>
              <a:t>Baseline de persistência — </a:t>
            </a:r>
            <a:r>
              <a:rPr sz="1500">
                <a:solidFill>
                  <a:srgbClr val="1A1A1A"/>
                </a:solidFill>
                <a:latin typeface="Calibri"/>
              </a:rPr>
              <a:t>"previsto = valor do ano anterior", calculado no MESMO conjunto de teste — todo MAE reportado é lido contra esse baseline, não isoladamente.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300" b="1">
                <a:solidFill>
                  <a:srgbClr val="1F5FA8"/>
                </a:solidFill>
              </a:rPr>
              <a:t>●  </a:t>
            </a:r>
            <a:r>
              <a:rPr b="1" sz="1500">
                <a:solidFill>
                  <a:srgbClr val="0F2E44"/>
                </a:solidFill>
                <a:latin typeface="Calibri"/>
              </a:rPr>
              <a:t>Métricas quebradas por fonte — </a:t>
            </a:r>
            <a:r>
              <a:rPr sz="1500">
                <a:solidFill>
                  <a:srgbClr val="1A1A1A"/>
                </a:solidFill>
                <a:latin typeface="Calibri"/>
              </a:rPr>
              <a:t>MAE do teste medido separadamente para anos observados e anos simulados — expõe se o conjunto de teste está contaminado com anos simulados.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Processo de Modelagem — WaterWeave-Tietê · apresentação técnica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31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C9A227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46888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Resultados Reais — Walk-Forward (11 folds/trecho/alvo)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556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286000"/>
                <a:gridCol w="2103120"/>
                <a:gridCol w="2194560"/>
                <a:gridCol w="2103120"/>
              </a:tblGrid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Trecho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Alvo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MAE médio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MAE baseline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% folds &gt; baseline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</a:rPr>
                        <a:t>Alto Tietê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IQA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6,41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5,93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36,4%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</a:rPr>
                        <a:t>Alto Tietê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OD (mg/L)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0,29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0,24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36,4%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</a:rPr>
                        <a:t>Médio Tietê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IQA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7,09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10,27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81,8%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</a:rPr>
                        <a:t>Médio Tietê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OD (mg/L)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0,48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0,50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45,5%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</a:rPr>
                        <a:t>Baixo Tietê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IQA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4,84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5,63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63,6%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40495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</a:rPr>
                        <a:t>Baixo Tietê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OD (mg/L)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0,37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0,56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63,6%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434840"/>
            <a:ext cx="11155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5697A"/>
                </a:solidFill>
                <a:latin typeface="Calibri"/>
              </a:rPr>
              <a:t>Leitura honesta: o Médio Tietê tem o ganho mais consistente sobre o baseline (82% dos folds para IQA). O Alto Tietê é o mais fraco (36%) — sinal de que a série ali é mais difícil de prever que simplesmente repetir o valor do ano anterior. Essa quebra por trecho só existe porque a auditoria de 2026-07 identificou que uma métrica agregada escondia esse tipo de trecho fraco atrás de trechos bons.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Processo de Modelagem — WaterWeave-Tietê · apresentação técnica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31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C9A227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46888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Auditoria de ML (2026-07) — 4 Achados Corrigidos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150" b="1">
                <a:solidFill>
                  <a:srgbClr val="1F5FA8"/>
                </a:solidFill>
              </a:rPr>
              <a:t>●  </a:t>
            </a:r>
            <a:r>
              <a:rPr b="1" sz="1350">
                <a:solidFill>
                  <a:srgbClr val="0F2E44"/>
                </a:solidFill>
                <a:latin typeface="Calibri"/>
              </a:rPr>
              <a:t>1. Vazamento temporal — </a:t>
            </a:r>
            <a:r>
              <a:rPr sz="1350">
                <a:solidFill>
                  <a:srgbClr val="1A1A1A"/>
                </a:solidFill>
                <a:latin typeface="Calibri"/>
              </a:rPr>
              <a:t>lag mensal quase sempre igual ao próprio alvo (valor anual repetido 12×). Corrigido: granularidade de treino 100% anual (tabela Gold anual dedicada).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150" b="1">
                <a:solidFill>
                  <a:srgbClr val="1F5FA8"/>
                </a:solidFill>
              </a:rPr>
              <a:t>●  </a:t>
            </a:r>
            <a:r>
              <a:rPr b="1" sz="1350">
                <a:solidFill>
                  <a:srgbClr val="0F2E44"/>
                </a:solidFill>
                <a:latin typeface="Calibri"/>
              </a:rPr>
              <a:t>2. Generalização espacial ruim — </a:t>
            </a:r>
            <a:r>
              <a:rPr sz="1350">
                <a:solidFill>
                  <a:srgbClr val="1A1A1A"/>
                </a:solidFill>
                <a:latin typeface="Calibri"/>
              </a:rPr>
              <a:t>modelo único com o trecho como variável categórica teve R² negativo em toda transferência Alto↔Médio↔Baixo (teste de generalização cruzada). Corrigido: 3 modelos independentes por trecho.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150" b="1">
                <a:solidFill>
                  <a:srgbClr val="1F5FA8"/>
                </a:solidFill>
              </a:rPr>
              <a:t>●  </a:t>
            </a:r>
            <a:r>
              <a:rPr b="1" sz="1350">
                <a:solidFill>
                  <a:srgbClr val="0F2E44"/>
                </a:solidFill>
                <a:latin typeface="Calibri"/>
              </a:rPr>
              <a:t>3. Ruído estrutural na vazão do Baixo Tietê — </a:t>
            </a:r>
            <a:r>
              <a:rPr sz="1350">
                <a:solidFill>
                  <a:srgbClr val="1A1A1A"/>
                </a:solidFill>
                <a:latin typeface="Calibri"/>
              </a:rPr>
              <a:t>curva de dupla massa com quebra abrupta ~1980; razão Q5/Q95 de 3,47× na curva de permanência (contra 115–212× nos outros trechos) — mistura de postos com escala diferente ao longo do tempo. Corrigido: vazão removida como preditora só nesse trecho.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150" b="1">
                <a:solidFill>
                  <a:srgbClr val="1F5FA8"/>
                </a:solidFill>
              </a:rPr>
              <a:t>●  </a:t>
            </a:r>
            <a:r>
              <a:rPr b="1" sz="1350">
                <a:solidFill>
                  <a:srgbClr val="0F2E44"/>
                </a:solidFill>
                <a:latin typeface="Calibri"/>
              </a:rPr>
              <a:t>4. SHAP dominado por autocorrelação — </a:t>
            </a:r>
            <a:r>
              <a:rPr sz="1350">
                <a:solidFill>
                  <a:srgbClr val="1A1A1A"/>
                </a:solidFill>
                <a:latin typeface="Calibri"/>
              </a:rPr>
              <a:t>mesmo sem o vazamento mensal, o lag de 1 ano domina o SHAP por ser genuinamente a feature mais forte — adequado para previsão, inútil para interpretação causal. Corrigido: matriz "drivers" sem lags, exclusiva para SHAP diagnóstico.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Processo de Modelagem — WaterWeave-Tietê · apresentação técnica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Limitações Assumidas Deliberadamente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070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50" b="1">
                <a:solidFill>
                  <a:srgbClr val="C9A227"/>
                </a:solidFill>
              </a:rPr>
              <a:t>●  </a:t>
            </a:r>
            <a:r>
              <a:rPr b="1" sz="1450">
                <a:solidFill>
                  <a:srgbClr val="0F2E44"/>
                </a:solidFill>
                <a:latin typeface="Calibri"/>
              </a:rPr>
              <a:t>IQA — </a:t>
            </a:r>
            <a:r>
              <a:rPr sz="1450">
                <a:solidFill>
                  <a:srgbClr val="D8E4F0"/>
                </a:solidFill>
                <a:latin typeface="Calibri"/>
              </a:rPr>
              <a:t>proxy simplificado (0,6×OD normalizado + 0,4×DBO normalizado), não o índice oficial CETESB/NSF-WQI de 9 parâmetros.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50" b="1">
                <a:solidFill>
                  <a:srgbClr val="C9A227"/>
                </a:solidFill>
              </a:rPr>
              <a:t>●  </a:t>
            </a:r>
            <a:r>
              <a:rPr b="1" sz="1450">
                <a:solidFill>
                  <a:srgbClr val="0F2E44"/>
                </a:solidFill>
                <a:latin typeface="Calibri"/>
              </a:rPr>
              <a:t>Geometria de uso do solo — </a:t>
            </a:r>
            <a:r>
              <a:rPr sz="1450">
                <a:solidFill>
                  <a:srgbClr val="D8E4F0"/>
                </a:solidFill>
                <a:latin typeface="Calibri"/>
              </a:rPr>
              <a:t>buffer de 5 km ao redor das estações, não a bacia de drenagem real a montante.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50" b="1">
                <a:solidFill>
                  <a:srgbClr val="C9A227"/>
                </a:solidFill>
              </a:rPr>
              <a:t>●  </a:t>
            </a:r>
            <a:r>
              <a:rPr b="1" sz="1450">
                <a:solidFill>
                  <a:srgbClr val="0F2E44"/>
                </a:solidFill>
                <a:latin typeface="Calibri"/>
              </a:rPr>
              <a:t>Sem encadeamento hidrológico — </a:t>
            </a:r>
            <a:r>
              <a:rPr sz="1450">
                <a:solidFill>
                  <a:srgbClr val="D8E4F0"/>
                </a:solidFill>
                <a:latin typeface="Calibri"/>
              </a:rPr>
              <a:t>cada trecho é modelado de forma independente no ABM; vazão/carga não é propagada de montante a jusante.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50" b="1">
                <a:solidFill>
                  <a:srgbClr val="C9A227"/>
                </a:solidFill>
              </a:rPr>
              <a:t>●  </a:t>
            </a:r>
            <a:r>
              <a:rPr b="1" sz="1450">
                <a:solidFill>
                  <a:srgbClr val="0F2E44"/>
                </a:solidFill>
                <a:latin typeface="Calibri"/>
              </a:rPr>
              <a:t>Extrapolação — </a:t>
            </a:r>
            <a:r>
              <a:rPr sz="1450">
                <a:solidFill>
                  <a:srgbClr val="D8E4F0"/>
                </a:solidFill>
                <a:latin typeface="Calibri"/>
              </a:rPr>
              <a:t>RandomForest não extrapola além do range de "ano" visto no treino — tende a saturar no valor do ano-limite para horizontes muito além disso.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5029200"/>
            <a:ext cx="10607040" cy="1280160"/>
          </a:xfrm>
          <a:prstGeom prst="roundRect">
            <a:avLst/>
          </a:prstGeom>
          <a:solidFill>
            <a:srgbClr val="163A54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212080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Toda simplificação está documentada nos próprios módulos de código — nenhuma é uma lacuna escondida ou uma suposição não verificada.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Processo de Modelagem — WaterWeave-Tietê · apresentação técnica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