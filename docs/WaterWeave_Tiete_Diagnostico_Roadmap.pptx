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Diagnóstico do Projeto e
Roadmap de Pesquisa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88036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O que precisa melhorar, o que ainda não foi explorado com os dados e a infraestrutura já disponíveis, e quais estudos concretos podem ser produzidos a partir do que já está pronto.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Sumário Executivo — Três Perguntas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5697A"/>
                </a:solidFill>
                <a:latin typeface="Calibri"/>
              </a:rPr>
              <a:t>Este documento responde a três perguntas sobre o estado atual do WaterWeave-Tietê, com base só no que já existe no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611880" cy="2286000"/>
          </a:xfrm>
          <a:prstGeom prst="roundRect">
            <a:avLst/>
          </a:prstGeom>
          <a:solidFill>
            <a:srgbClr val="FBECEC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48840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97480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F2E44"/>
                </a:solidFill>
                <a:latin typeface="Calibri"/>
              </a:rPr>
              <a:t>O que precisa melhorar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3209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Limitações já identificadas e documentadas no próprio código, mas ainda não corrigidas.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611880" cy="2286000"/>
          </a:xfrm>
          <a:prstGeom prst="roundRect">
            <a:avLst/>
          </a:prstGeom>
          <a:solidFill>
            <a:srgbClr val="FDF6E0"/>
          </a:solidFill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148840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697480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F2E44"/>
                </a:solidFill>
                <a:latin typeface="Calibri"/>
              </a:rPr>
              <a:t>O que já temos e não exploramos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246120"/>
            <a:ext cx="3209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Dados reais já ingeridos e infraestrutura já pronta, mas subutilizados.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11680"/>
            <a:ext cx="3611880" cy="2286000"/>
          </a:xfrm>
          <a:prstGeom prst="roundRect">
            <a:avLst/>
          </a:prstGeom>
          <a:solidFill>
            <a:srgbClr val="E4F3E8"/>
          </a:solidFill>
          <a:ln w="1778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148840"/>
            <a:ext cx="32095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F9E4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697480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0F2E44"/>
                </a:solidFill>
                <a:latin typeface="Calibri"/>
              </a:rPr>
              <a:t>Quais estudos são realizáveis hoje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246120"/>
            <a:ext cx="3209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697A"/>
                </a:solidFill>
                <a:latin typeface="Calibri"/>
              </a:rPr>
              <a:t>Publicações possíveis sem coleta de dado novo, só com o que já existe no repositório.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572000"/>
            <a:ext cx="11064240" cy="160020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700016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F5FA8"/>
                </a:solidFill>
                <a:latin typeface="Calibri"/>
              </a:rPr>
              <a:t>Como ler este documento: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5084064"/>
            <a:ext cx="10588752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Nenhum item é especulativo: cada limitação, lacuna ou oportunidade citada corresponde a um achado real já registrado no código-fonte (docstrings "ACHADO DE PESQUISA"/"ACHADO DE AUDITORIA"), a uma tabela Delta já materializada, ou a um módulo já implementado e testado. A lista não pretende ser exaustiva — é um ponto de partida priorizável.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 Que Precisa Melhorar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B8CCDE"/>
                </a:solidFill>
                <a:latin typeface="Calibri"/>
              </a:rPr>
              <a:t>Limitações técnicas reais, a maioria já documentada no próprio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1.1 — Modelo Biofísico (Balanço Hídrico e Streeter-Phelps)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1155680" cy="534924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10680192" cy="5111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Balanço hídrico: coeficiente de escoamento fixo para os 3 trechos, sem calibração de campo por sub-bacia — ancorado na vazão real média histórica, mas não diferencia resposta a chuvas extremas dentro de um trecho.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Balanço hídrico: evapotranspiração potencial fixa (90 mm/mês) por falta de série de temperatura na Gold — substituir por ETo real (Penman-Monteith) quando o conector ERA5 for estendido além do fator_clima do ABM.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Streeter-Phelps: coeficientes kd (desoxigenação) e kr (reaeração) usam valores típicos de literatura, não calibrados para o Tietê — exigiria campanha de campo (traçador, medição de reaeração) fora do escopo atual.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Conectividade espacial: vazão calibrada de forma independente por trecho no ABM — o desvio de carga poluidora já é propagado montante→jusante, mas a vazão em si não é acumulada ao longo do 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1.2 — Modelo Baseado em Agentes (ABM)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1155680" cy="534924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10680192" cy="5111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Uso do solo estático: fixo para toda a simulação, mesmo em horizontes de 30 anos — nenhum cenário de mudança de uso do solo (ex. mais área urbana ao longo do tempo) é simulável hoje.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Sem modelagem de lançamento térmico: a curva de Temperatura do IQA oficial depende de Δt (desvio da temperatura de equilíbrio) — o ABM usa Δt=0 fixo, convenção documentada mas ainda uma lacuna real.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Sem análise de sensibilidade formal: nenhuma varredura (Sobol, Morris, ou grid simples) foi feita para saber quanto cada peso/parâmetro de decisão dos agentes realmente move o resultado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1.3 —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1155680" cy="534924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10680192" cy="5111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Alto Tietê é instável: no walk-forward, o modelo só supera o baseline de persistência em 36,4% dos anos testados (IQA e OD) — pior desempenho relativo dos 3 trechos, precisa de investigação dedicada.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Estrutura temporal simples: o modelo de produção usa só 3 lags (1/2/3 anos) + média móvel de 5 anos — não foram testadas arquiteturas com mais memória nem modelos sequenciais (LSTM/GRU).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Vazão do Baixo Tietê ainda contamina o ABM: o Random Forest de Baixo Tietê já teve a vazão removida como preditora (curva de dupla massa, quebra ~1980), mas o ABM/balanço hídrico daquele trecho continua exposto ao mesmo ruído estrutural.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1.4 — Qualidade e Proveniência de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1155680" cy="534924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179576"/>
            <a:ext cx="10680192" cy="5111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Agrotóxicos/pesticidas reais subaproveitados: existem na fonte bruta, mas nunca chegam a ser preditora de ML — cobertura esparsa demais, nunca reavaliada com imputação mais cuidadosa.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Sensoriamento remoto não calibrado: os índices espectrais do Landsat (1984-presente, já ingeridos) nunca foram validados contra medição in situ do Tietê — risco do mesmo "ruído estrutural disfarçado de sinal" já visto na vazão do Baixo Tietê.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Duas definições de IQA coexistindo: o proxy de 2 parâmetros (OD/DBO, usado no ABM e no ML) e o modelo oficial de 9 parâmetros (só em "Cenários Futuros") — bem documentado, mas risco real de confusão para quem é novo no projeto.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Curvas do IQA oficial ainda não validadas contra campo: digitalizadas por interpolação linear a partir do gráfico oficial da CETESB — fiéis aos pontos exatos publicados, mas sem série real com os 9 parâmetros medidos simultaneamente para validação.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 Que Já Temos e Não Exploramos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B8CCDE"/>
                </a:solidFill>
                <a:latin typeface="Calibri"/>
              </a:rPr>
              <a:t>Dado real ou infraestrutura já construída/ingerida, mas cujo potencial ainda não foi usado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2.1 — Os Outros Índices Que a Própria CETESB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Desde 2002 a CETESB não usa mais o IQA "puro" como indicador principal — usa o IAP (abastecimento público) e o IVA (proteção da vida aquática), ambos DERIVADOS do IQA. A pesquisa feita para o IQA oficial (Parte 1) já levantou a documentação completa das duas fórmulas.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55680" cy="448056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002535"/>
            <a:ext cx="10680192" cy="4242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IAP = IQA × ISTO (Índice de Substâncias Tóxicas e Organolépticas) — precisaria de séries reais de metais (cádmio, chumbo, cromo, mercúrio, níquel), já existentes na base bruta CETESB, coluna "metais_pesados_ppm", hoje não desagregada por metal individual, mais ferro/manganês/alumínio/cobre/zinco.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IVA combina o IPMCA (OD, pH, toxicidade + metais) com o IET (Índice de Estado Trófico, a partir de fósforo total + clorofila-a). Fósforo total já é simulado/real no projeto; clorofila-a não é medida diretamente, mas o NDVI do sensoriamento remoto real (Landsat) é um proxy conhecido na literatura — ponte natural com o item 2.2.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2.2 a 2.4 — Sensoriamento, Uso do Solo e Cenários Climáticos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3630168" cy="521208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22529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2.2 — Sensoriamento remoto real (Landsat, 1984-presente)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609344"/>
            <a:ext cx="3154680" cy="459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1A1A1A"/>
                </a:solidFill>
                <a:latin typeface="Calibri"/>
              </a:rPr>
              <a:t>Já ingerido (NDVI de mata ciliar, proxy de turbidez/NDTI, temperatura de superfície, sólidos suspensos, nível d'água), com mais de 900 observações anuais reais em 7 pontos. Hoje alimenta só o Mapa Interativo — não entra em nenhum modelo. Falta um estudo de validação contra a série CETESB real, que já é publicável por si só (ver Estudo 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0248" y="1097280"/>
            <a:ext cx="3630168" cy="5212080"/>
          </a:xfrm>
          <a:prstGeom prst="roundRect">
            <a:avLst/>
          </a:prstGeom>
          <a:solidFill>
            <a:srgbClr val="FDF6E0"/>
          </a:solidFill>
          <a:ln w="1778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22529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9A227"/>
                </a:solidFill>
                <a:latin typeface="Calibri"/>
              </a:rPr>
              <a:t>2.3 — Uso do solo dinâmico no ABM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609344"/>
            <a:ext cx="3154680" cy="459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1A1A1A"/>
                </a:solidFill>
                <a:latin typeface="Calibri"/>
              </a:rPr>
              <a:t>O MapBiomas real (1985-2023, 39 anos de série por trecho) mostra a evolução real da paisagem — mas o ABM usa só a foto mais recente, fixa por toda a simulação. Alimentar o ABM com uma TRAJETÓRIA de uso do solo é uma extensão natural, sem precisar de dado novo.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7576" y="1097280"/>
            <a:ext cx="3630168" cy="5212080"/>
          </a:xfrm>
          <a:prstGeom prst="roundRect">
            <a:avLst/>
          </a:prstGeom>
          <a:solidFill>
            <a:srgbClr val="E4F3E8"/>
          </a:solidFill>
          <a:ln w="1778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2529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F9E4F"/>
                </a:solidFill>
                <a:latin typeface="Calibri"/>
              </a:rPr>
              <a:t>2.4 — Cenários climáticos além do SSP5-8.5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09344"/>
            <a:ext cx="3154680" cy="4590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1A1A1A"/>
                </a:solidFill>
                <a:latin typeface="Calibri"/>
              </a:rPr>
              <a:t>A calibração real via ERA5/CMIP6 já está funcionando e validada (fator_clima = 0,982, reproduzido de forma idêntica em duas rodadas). Hoje só o cenário mais extremo foi calibrado. Rodar SSP2-4.5 e SSP1-2.6 com a MESMA infraestrutura já pronta permitiria comparar trajetórias de mitigação — um leque de cenários, não um ponto único.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2.5 — Dados Reais Ainda Represados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11155680" cy="5303520"/>
          </a:xfrm>
          <a:prstGeom prst="roundRect">
            <a:avLst/>
          </a:prstGeom>
          <a:solidFill>
            <a:srgbClr val="E8F0FA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225296"/>
            <a:ext cx="10680192" cy="5065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Metais pesados: existem na base bruta da CETESB mas nunca foram desagregados por elemento (cádmio, chumbo, cromo, mercúrio, níquel) nem usados como preditora — pré-requisito direto para o IAP (item 2.1).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Cruzamento espacial fino: a série de sensoriamento remoto real tem 7 pontos de monitoramento com coordenadas fixas — nunca foi cruzada espacialmente com os pontos CETESB para checar correlação ponto a ponto (só comparação agregada por trecho existe hoje).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Resumo de confiabilidade do walk-forward: o resumo por trecho (mae_desvio, pct_folds_supera_baseline) já existe pronto em resumo_walk_forward.csv — nunca usado além de leitura manual; poderia virar um indicador permanente no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Estudos Que Já Podem Ser Feitos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B8CCDE"/>
                </a:solidFill>
                <a:latin typeface="Calibri"/>
              </a:rPr>
              <a:t>Dez estudos que não dependem de correção da Parte 1 nem de dado novo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Estudos Publicáveis Hoje (1/5)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1 — Drivers de qualidade da água por trecho (SHAP assinado)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Quais fatores exógenos (uso do solo, vazão, chuva) mais empurram o IQA/OD para cima ou para baixo em cada trecho, e por quê os trechos divergem?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SHAP assinado já computado para 6 combinações trecho×alvo; achado real: % Água puxa qualidade PARA BAIXO no Baixo Tietê, % Agropecuária domina no Alto/Médio Tietê.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883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Redação do artigo (rascunho já existe) e submissão a periódico de recursos hídricos com revisão mais tradicional.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RBRH ou Simpósio Brasileiro de Recursos Hídricos (ABRH)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2 — IQA proxy vs. IQA oficial CETESB: quanto divergem?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O proxy simplificado de 2 parâmetros aproxima bem o IQA oficial de 9 parâmetros? Em que faixas/trechos a diferença é maior?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As duas fórmulas já implementadas e testadas; os 9 parâmetros já são simulados simultaneamente pelo ABM em cada passo.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Recalcular o IQA oficial sobre toda a série SIMULADA existente e comparar sistematicamente contra o proxy.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Nota técnica interna + seção de limitações do artigo principal, ou pôster metodológico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Estudos Publicáveis Hoje (2/5)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3 — Tendência secular formal (Mann-Kendall) por trecho e parâmetro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A queda de qualidade da água em 1940-2025 é estatisticamente significativa em cada trecho? A tendência mudou de intensidade em algum período?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Série histórica real da CETESB (1978-2024) já em silver.qualidade_cetesb; tendência já citada qualitativamente, nunca formalizada.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Implementar o teste como função reutilizável, rodar para IQA/OD/DBO × 3 trechos, testar quebra de tendência (Pettitt).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Capítulo metodológico do artigo principal, ou nota técnica standalone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4 — Attribution: quanto é clima, quanto é gestão?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Da diferença entre "Atual" e "Mudança Climática Extrema", quanto é chuva/vazão reduzida e quanto é gestão (outorga, fiscalização)?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Infraestrutura de cenários customizados já pronta (rodar_cenario_customizado aceita qualquer combinação de parâmetros).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Desenhar e rodar um experimento fatorial variando fator_clima e alavancas de gestão independentemente.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Artigo de política pública/gestão hídrica, ou seção de discussão do artigo principal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Estudos Publicáveis Hoje (3/5)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5 — Validação do sensoriamento remoto contra medição in situ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Os índices espectrais do Landsat (NDVI, proxy de turbidez) se correlacionam com a medição real da CETESB nos anos/pontos coincidentes?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As duas séries já ingeridas, com sobreposição temporal real (Landsat 1984-presente, CETESB 1978-2024).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Juntar as duas séries por (ponto, ano), calcular correlação/erro, decidir se viram preditora de 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Artigo metodológico de sensoriamento remoto (Remote Sensing, ISPRS, ou revista de geoprocessamento)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6 — Acoplamento ML × Biofísico: onde os dois modelos discordam?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Em quais trechos/horizontes a previsão estatística (ML) e a simulação determinística (ABM) mais divergem, e o que isso revela?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Módulo já implementado e testado (comparacao_biofisico_ml), limiar de divergência já exposto no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Rodar a comparação sistematicamente para 3 trechos × múltiplos horizontes/cenários e interpretar os casos de maior divergência.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Discussão do artigo principal, ou trabalho sobre modelagem híbrida (Environmental Modelling &amp; Software)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Estudos Publicáveis Hoje (4/5)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7 — Qualidade da imputação: o quanto ela realmente ajuda?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A imputação controlada (vazão/chuva 2 anos, uso do solo 10 anos) melhora de fato a performance do ML vs. descartar linhas com lacuna?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Os dois pipelines (com e sem imputação) são fáceis de gerar a partir do mesmo código.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Re-treinar com imputação desligada e comparar MAE/walk-forward contra a versão atual.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Nota técnica interna, ou apêndice metodológico do artigo principal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8 — Trajetória dos serviços ecossistêmicos reais (1978-2024)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Como evoluíram os serviços de regulação de qualidade e provisão hídrica em quase 50 anos? Há sincronia com secas conhecidas (SP 2014-2015)?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gold.servicos_ecossistemicos_trecho_ano já calculado sobre o histórico REAL completo, nunca analisado em profundidade.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Análise de série temporal (tendência, sazonalidade, eventos extremos) — praticamente só análise e redação.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Estudo de caso sobre serviços ecossistêmicos hídricos (Ecosystem Services, ou revista de ecologia aplicada)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Estudos Publicáveis Hoje (5/5)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9 — O pipeline de engenharia de dados como contribuição metodológica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Como estruturar um pipeline medallion para dado ambiental escasso e heterogêneo, com proveniência rastreável linha a linha, end-to-end?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Pipeline inteiro já implementado, testado (153+ testes) e documentado, decisões de design já justificadas em código.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Escrever a descrição arquitetural como contribuição própria — ângulo de Data/Software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Conferência de engenharia de software para ciência de dados ambientais (ICSE-SEIS, workshop MLOps)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51560"/>
            <a:ext cx="5532120" cy="5394960"/>
          </a:xfrm>
          <a:prstGeom prst="roundRect">
            <a:avLst/>
          </a:prstGeom>
          <a:solidFill>
            <a:srgbClr val="E8F0FA"/>
          </a:solidFill>
          <a:ln w="1651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161288"/>
            <a:ext cx="5166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Estudo 10 — Análise de sensibilidade do ABM (quais parâmetros mais importam)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09928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Pergunta: </a:t>
            </a:r>
            <a:r>
              <a:rPr sz="960">
                <a:solidFill>
                  <a:srgbClr val="1A1A1A"/>
                </a:solidFill>
                <a:latin typeface="Calibri"/>
              </a:rPr>
              <a:t>Quais parâmetros de decisão dos agentes mais influenciam o resultado final — a resposta é linear ou tem interações relevantes?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12264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Disponível: </a:t>
            </a:r>
            <a:r>
              <a:rPr sz="960">
                <a:solidFill>
                  <a:srgbClr val="1A1A1A"/>
                </a:solidFill>
                <a:latin typeface="Calibri"/>
              </a:rPr>
              <a:t>O ABM já aceita qualquer combinação de parâmetros customizados (rodar_cenario_customizado).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Falta: </a:t>
            </a:r>
            <a:r>
              <a:rPr sz="960">
                <a:solidFill>
                  <a:srgbClr val="1A1A1A"/>
                </a:solidFill>
                <a:latin typeface="Calibri"/>
              </a:rPr>
              <a:t>Implementar varredura de sensibilidade formal (SALib cobre Sobol/Morris em Python) sobre os parâmetros do ABM.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16936"/>
            <a:ext cx="5166360" cy="45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8000"/>
              </a:lnSpc>
            </a:pPr>
            <a:r>
              <a:rPr sz="960" b="1">
                <a:solidFill>
                  <a:srgbClr val="0F2E44"/>
                </a:solidFill>
                <a:latin typeface="Calibri"/>
              </a:rPr>
              <a:t>Destino: </a:t>
            </a:r>
            <a:r>
              <a:rPr sz="960">
                <a:solidFill>
                  <a:srgbClr val="1A1A1A"/>
                </a:solidFill>
                <a:latin typeface="Calibri"/>
              </a:rPr>
              <a:t>Validação de modelo do artigo principal, ou nota técnica sobre o ABM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Priorização Sugerida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97A"/>
                </a:solidFill>
                <a:latin typeface="Calibri"/>
              </a:rPr>
              <a:t>Uma leitura possível de por onde começar, cruzando esforço estimado contra valor imediato (redação/publicação vs. correção técnica vs. exploração de dado).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6035040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Prioridade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Por quê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Imediato (dias)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Estudo 2 — proxy vs. oficial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Só análise sobre dado já simulado; esclarece ambiguidade real antes de decidir migrar o proxy.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Imediato (dias)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Estudo 3 — Mann-Kendall formal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Pequeno módulo + análise; fortalece o argumento já usado ("ano" como preditora válida).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Curto prazo (1-2 sem.)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Estudo 7 — robustez da imputação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Re-treinar é rápido; responde a pergunta que qualquer revisor de artigo vai fazer.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Curto prazo (1-2 sem.)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Estudo 5 — validação sensoriamento remoto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Destrava o item 2.2 (Landsat como preditora) e é publicável por si só.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Médio prazo (1 mês)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Estudos 1, 6, 8 — redação dos artigos viáveis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O trabalho analítico já foi feito; falta majoritariamente redação e formatação.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Médio prazo (1 mês)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Item 2.1 — IAP/IVA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Exige desagregar metais pesados já existentes — engenharia de dados, não coleta nova.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Longo prazo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Item 1.1/1.2 — calibração de campo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Exige campanha de campo real — fora do escopo de dado já disponível.</a:t>
                      </a:r>
                    </a:p>
                  </a:txBody>
                  <a:tcPr marL="76200" marR="76200" anchor="ctr">
                    <a:solidFill>
                      <a:srgbClr val="E8F0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</a:rPr>
                        <a:t>Longo prazo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Estudo 10 — sensibilidade formal do ABM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</a:rPr>
                        <a:t>Tecnicamente simples, mas pesado (muitas rodadas) — bom candidato a lote/background.</a:t>
                      </a:r>
                    </a:p>
                  </a:txBody>
                  <a:tcPr marL="76200" marR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10515600" cy="301752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574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5 — Nota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96012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O projeto já tem uma base rara para este estágio: pipeline de dados versionado com proveniência real/imputado/simulado rastreável linha a linha, três famílias de modelo (biofísico determinístico, ABM e ML) que já se falam entre si, e histórico real de quase 50 anos por trecho.
A maior parte do valor não explorado nesta análise não exige dado novo — exige tempo de análise sobre o que já foi coletado e código sobre o que já foi decidido. É esse o critério que separou a Parte 2 (dado parado, esperando uso) da Parte 3 (análise pronta para virar texto).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Referências Bibliográficas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8CCDE"/>
                </a:solidFill>
                <a:latin typeface="Calibri"/>
              </a:rPr>
              <a:t>Modelos, algoritmos e métodos — todas usadas de fato no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ALLEN, PEREIRA, RAES &amp; SMITH (1998) — FAO 56, Penman-Monteith — ETo real (item 1.1)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BREIMAN (2001) — Random Forests — todos os modelos de ML do projeto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HERMAN &amp; USHER (2017) — SALib — análise de sensibilidade sugerida (Estudo 10)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KAZIL, MASAD &amp; CROOKS (2020) — Mesa Framework — base do ABM (Seção 1.2)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234440"/>
            <a:ext cx="55778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LUNDBERG &amp; LEE (2017) — SHAP/TreeExplainer — explicabilidade do ML (Estudo 1)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MANN (1945); KENDALL (1975) — teste de tendência secular (Estudo 3)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MORRIS (1991); SOBOL' (2001) — análise de sensibilidade do ABM (Estudo 10)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STREETER &amp; PHELPS (1925) — autodepuração/déficit de OD (Seção 1.1)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0F2E44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Referências Bibliográficas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B8CCDE"/>
                </a:solidFill>
                <a:latin typeface="Calibri"/>
              </a:rPr>
              <a:t>Índices de qualidade da água, normas, dados e clima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9436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BROWN, McLELLAND, DEININGER &amp; TOZER (1970) — IQA multiplicativo original (NSF)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CETESB (2007) — fonte oficial do IQA — base de models.biofisico.iqa_oficial_cetesb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FERREIRA &amp; ALMEIDA (2005) — SCQA/IGAM — calibração das curvas digitalizadas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LAMPARELLI (2004) — IET modificado, adotado pela CETESB (item 2.1)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LANDWEHR &amp; DEININGER (1976) — forma multiplicativa do IQA (vs. aditiva de Horton)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MENEZES et al. (Embrapa) — revisão comparativa de índices de qualidade de água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PEREIRA, FEITOSA, NUNES, CASTRO &amp; PAULINO (2013) — pontos SCQA/IGAM (calibração)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TOLEDO (1990) — IET de Carlson modificado para regiões tropicais</a:t>
            </a:r>
          </a:p>
          <a:p>
            <a:pPr>
              <a:lnSpc>
                <a:spcPct val="120000"/>
              </a:lnSpc>
              <a:spcAft>
                <a:spcPts val="13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ZAGATTO et al. (1999) — IVA, proteção da vida aquática (item 2.1)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234440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5FA8"/>
                </a:solidFill>
                <a:latin typeface="Calibri"/>
              </a:rPr>
              <a:t>Normas, dados e clima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00200"/>
            <a:ext cx="48920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CONAMA nº 357/2005 — classificação de corpos d'água, limiares de DBO/Classe 3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CONAMA nº 430/2011 — padrões de lançamento de efluentes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ANA — SNIRH — fonte do conector ao vivo ingestion.connectors.ana_snirh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COPERNICUS C3S — ERA5 (2023) — reanálise climática, baseline do fator_clima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180">
                <a:solidFill>
                  <a:srgbClr val="1A1A1A"/>
                </a:solidFill>
                <a:latin typeface="Calibri"/>
              </a:rPr>
              <a:t>•  IPCC AR6 (2021) — cenários CMIP6/SSP, base da calibração do fator_clima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Diagnóstico e Roadmap de Pesquisa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C9A227"/>
                </a:solidFill>
                <a:latin typeface="Calibri"/>
              </a:rPr>
              <a:t>Convertido de Diagnostico_Roadmap_Pesquisa_WaterWeave_Tiete.docx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89199"/>
                </a:solidFill>
                <a:latin typeface="Calibri"/>
              </a:rPr>
              <a:t>WaterWeave-Tietê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