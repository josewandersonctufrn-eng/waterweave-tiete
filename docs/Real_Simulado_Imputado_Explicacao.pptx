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72" r:id="rId5"/>
    <p:sldId id="273" r:id="rId6"/>
    <p:sldId id="274" r:id="rId7"/>
    <p:sldId id="276" r:id="rId8"/>
    <p:sldId id="277" r:id="rId9"/>
    <p:sldId id="271" r:id="rId10"/>
    <p:sldId id="264" r:id="rId11"/>
    <p:sldId id="280" r:id="rId12"/>
    <p:sldId id="289" r:id="rId13"/>
    <p:sldId id="290" r:id="rId14"/>
    <p:sldId id="291" r:id="rId15"/>
    <p:sldId id="292" r:id="rId16"/>
    <p:sldId id="293" r:id="rId17"/>
    <p:sldId id="258" r:id="rId18"/>
    <p:sldId id="259" r:id="rId19"/>
    <p:sldId id="281" r:id="rId20"/>
    <p:sldId id="260" r:id="rId21"/>
    <p:sldId id="261" r:id="rId22"/>
    <p:sldId id="287" r:id="rId23"/>
    <p:sldId id="26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Real, Simulado e Imputado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Entendendo a Proveniência dos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29000"/>
            <a:ext cx="41148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227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Guia de referência para esclarecer dúvidas frequentes entre os pesquisadores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89199"/>
                </a:solidFill>
                <a:latin typeface="Calibri"/>
              </a:rPr>
              <a:t>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Por que essa distinção importa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3369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  <a:spcAft>
                <a:spcPts val="2200"/>
              </a:spcAft>
            </a:pPr>
            <a:r>
              <a:rPr sz="1500" b="1" dirty="0">
                <a:solidFill>
                  <a:srgbClr val="1F5FA8"/>
                </a:solidFill>
              </a:rPr>
              <a:t>●  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O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projeto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mistura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, o tempo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todo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, </a:t>
            </a:r>
            <a:r>
              <a:rPr sz="1700" dirty="0">
                <a:solidFill>
                  <a:srgbClr val="1A1A1A"/>
                </a:solidFill>
                <a:latin typeface="Calibri"/>
              </a:rPr>
              <a:t>dado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medido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verdade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com dado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estimado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pelo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próprio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projeto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— e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isso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é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intencional</a:t>
            </a:r>
            <a:r>
              <a:rPr sz="1700" dirty="0">
                <a:solidFill>
                  <a:srgbClr val="1A1A1A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não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um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problema</a:t>
            </a:r>
            <a:r>
              <a:rPr sz="1700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just">
              <a:lnSpc>
                <a:spcPct val="120000"/>
              </a:lnSpc>
              <a:spcAft>
                <a:spcPts val="2200"/>
              </a:spcAft>
            </a:pPr>
            <a:r>
              <a:rPr sz="1500" b="1" dirty="0">
                <a:solidFill>
                  <a:srgbClr val="1F5FA8"/>
                </a:solidFill>
              </a:rPr>
              <a:t>●  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O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risco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não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 é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usar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 dado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simulado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 — 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é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usar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dado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simulado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SEM SABER que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ele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é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simulado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, e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tirar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uma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conclusão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científica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como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se fosse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medição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de campo.</a:t>
            </a:r>
          </a:p>
          <a:p>
            <a:pPr algn="just">
              <a:lnSpc>
                <a:spcPct val="120000"/>
              </a:lnSpc>
              <a:spcAft>
                <a:spcPts val="2200"/>
              </a:spcAft>
            </a:pPr>
            <a:r>
              <a:rPr sz="1500" b="1" dirty="0">
                <a:solidFill>
                  <a:srgbClr val="1F5FA8"/>
                </a:solidFill>
              </a:rPr>
              <a:t>● 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Por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isso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toda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tabela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 do pipeline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carrega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 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uma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coluna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proveniência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— e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por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isso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existem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4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termos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diferentes</a:t>
            </a:r>
            <a:r>
              <a:rPr sz="1700" dirty="0">
                <a:solidFill>
                  <a:srgbClr val="1A1A1A"/>
                </a:solidFill>
                <a:latin typeface="Calibri"/>
              </a:rPr>
              <a:t>,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não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só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“real” e “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simulado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”.</a:t>
            </a:r>
          </a:p>
          <a:p>
            <a:pPr algn="just">
              <a:lnSpc>
                <a:spcPct val="120000"/>
              </a:lnSpc>
              <a:spcAft>
                <a:spcPts val="2200"/>
              </a:spcAft>
            </a:pPr>
            <a:r>
              <a:rPr sz="1500" b="1" dirty="0">
                <a:solidFill>
                  <a:srgbClr val="1F5FA8"/>
                </a:solidFill>
              </a:rPr>
              <a:t>●  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Este material </a:t>
            </a:r>
            <a:r>
              <a:rPr sz="1700" b="1" dirty="0" err="1">
                <a:solidFill>
                  <a:srgbClr val="0F2E44"/>
                </a:solidFill>
                <a:latin typeface="Calibri"/>
              </a:rPr>
              <a:t>existe</a:t>
            </a:r>
            <a:r>
              <a:rPr sz="1700" b="1" dirty="0">
                <a:solidFill>
                  <a:srgbClr val="0F2E44"/>
                </a:solidFill>
                <a:latin typeface="Calibri"/>
              </a:rPr>
              <a:t> para responder, 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de forma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definitiva</a:t>
            </a:r>
            <a:r>
              <a:rPr sz="1700" dirty="0">
                <a:solidFill>
                  <a:srgbClr val="1A1A1A"/>
                </a:solidFill>
                <a:latin typeface="Calibri"/>
              </a:rPr>
              <a:t>, à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pergunta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que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mais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aparece</a:t>
            </a:r>
            <a:r>
              <a:rPr sz="1700" dirty="0">
                <a:solidFill>
                  <a:srgbClr val="1A1A1A"/>
                </a:solidFill>
                <a:latin typeface="Calibri"/>
              </a:rPr>
              <a:t>: “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esse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número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aqui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é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medição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real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ou</a:t>
            </a:r>
            <a:r>
              <a:rPr sz="1700" dirty="0">
                <a:solidFill>
                  <a:srgbClr val="1A1A1A"/>
                </a:solidFill>
                <a:latin typeface="Calibri"/>
              </a:rPr>
              <a:t> </a:t>
            </a:r>
            <a:r>
              <a:rPr sz="1700" dirty="0" err="1">
                <a:solidFill>
                  <a:srgbClr val="1A1A1A"/>
                </a:solidFill>
                <a:latin typeface="Calibri"/>
              </a:rPr>
              <a:t>não</a:t>
            </a:r>
            <a:r>
              <a:rPr sz="1700" dirty="0">
                <a:solidFill>
                  <a:srgbClr val="1A1A1A"/>
                </a:solidFill>
                <a:latin typeface="Calibri"/>
              </a:rPr>
              <a:t>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WaterWeave-Tietê — Real, Simulado e Imputado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3562" y="0"/>
            <a:ext cx="11624876" cy="6858029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76"/>
          </a:p>
        </p:txBody>
      </p:sp>
      <p:sp>
        <p:nvSpPr>
          <p:cNvPr id="3" name="TextBox 2"/>
          <p:cNvSpPr txBox="1"/>
          <p:nvPr/>
        </p:nvSpPr>
        <p:spPr>
          <a:xfrm>
            <a:off x="1033554" y="2454025"/>
            <a:ext cx="10124892" cy="493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789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2789" b="1" dirty="0">
                <a:solidFill>
                  <a:srgbClr val="FFFFFF"/>
                </a:solidFill>
                <a:latin typeface="Calibri"/>
              </a:rPr>
              <a:t>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554" y="3166518"/>
            <a:ext cx="10124892" cy="261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76" b="1">
                <a:solidFill>
                  <a:srgbClr val="C9A227"/>
                </a:solidFill>
                <a:latin typeface="Calibri"/>
              </a:rPr>
              <a:t>WaterWeave-Tietê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554" y="3541514"/>
            <a:ext cx="10124892" cy="188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66" i="1">
                <a:solidFill>
                  <a:srgbClr val="B8CCDE"/>
                </a:solidFill>
                <a:latin typeface="Calibri"/>
              </a:rPr>
              <a:t>Da fonte bruta à tabela final — arquitetura Medallion (Bronze/Silver/Gold)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554" y="6333035"/>
            <a:ext cx="10124892" cy="159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2">
                <a:solidFill>
                  <a:srgbClr val="889199"/>
                </a:solidFill>
                <a:latin typeface="Calibri"/>
              </a:rPr>
              <a:t>Agosto de 2026</a:t>
            </a:r>
          </a:p>
        </p:txBody>
      </p:sp>
    </p:spTree>
    <p:extLst>
      <p:ext uri="{BB962C8B-B14F-4D97-AF65-F5344CB8AC3E}">
        <p14:creationId xmlns:p14="http://schemas.microsoft.com/office/powerpoint/2010/main" val="481870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3" y="700440"/>
            <a:ext cx="11711886" cy="58762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9623" y="252733"/>
            <a:ext cx="10515600" cy="433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600" b="1" i="0" dirty="0" smtClean="0">
                <a:latin typeface="Calibri"/>
              </a:rPr>
              <a:t>DADOS CETESB – 1978 a 2024.</a:t>
            </a:r>
            <a:endParaRPr sz="2600" b="1" i="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485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9623" y="252733"/>
            <a:ext cx="10515600" cy="460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600" b="1" i="0" dirty="0" smtClean="0">
                <a:latin typeface="Calibri"/>
              </a:rPr>
              <a:t>DADOS DAEE –FLUVIOMETRICO – 1940 a 2025</a:t>
            </a:r>
            <a:endParaRPr sz="2600" b="1" i="0" dirty="0"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5" y="1201312"/>
            <a:ext cx="11104597" cy="407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7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9623" y="252733"/>
            <a:ext cx="10515600" cy="893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600" b="1" i="0" dirty="0" smtClean="0">
                <a:latin typeface="Calibri"/>
              </a:rPr>
              <a:t>DADOS </a:t>
            </a:r>
            <a:r>
              <a:rPr lang="en-US" sz="2600" b="1" dirty="0"/>
              <a:t>DAEE –PLUVIOMETRICO - 1940 a 2025</a:t>
            </a:r>
          </a:p>
          <a:p>
            <a:pPr algn="l">
              <a:lnSpc>
                <a:spcPct val="115000"/>
              </a:lnSpc>
            </a:pPr>
            <a:endParaRPr sz="2600" b="1" i="0" dirty="0">
              <a:latin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5" y="1004846"/>
            <a:ext cx="8919276" cy="525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29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9623" y="252733"/>
            <a:ext cx="10515600" cy="893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600" b="1" i="0" dirty="0" smtClean="0">
                <a:latin typeface="Calibri"/>
              </a:rPr>
              <a:t>DADOS </a:t>
            </a:r>
            <a:r>
              <a:rPr lang="en-US" sz="2600" b="1" dirty="0"/>
              <a:t>SOLO SEDIMENTOS - 1940 a 2025</a:t>
            </a:r>
          </a:p>
          <a:p>
            <a:pPr algn="l">
              <a:lnSpc>
                <a:spcPct val="115000"/>
              </a:lnSpc>
            </a:pPr>
            <a:endParaRPr sz="2600" b="1" i="0" dirty="0"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9" y="877201"/>
            <a:ext cx="9747328" cy="532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2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9623" y="252733"/>
            <a:ext cx="10515600" cy="433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2600" b="1" i="0" dirty="0" smtClean="0">
                <a:latin typeface="Calibri"/>
              </a:rPr>
              <a:t>DADOS SITES</a:t>
            </a:r>
            <a:endParaRPr sz="2600" b="1" i="0" dirty="0">
              <a:latin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51" y="712860"/>
            <a:ext cx="4578375" cy="29799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512" y="1299171"/>
            <a:ext cx="4715151" cy="27792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51" y="3692770"/>
            <a:ext cx="4578375" cy="30609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512" y="4422917"/>
            <a:ext cx="5195101" cy="233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3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3562" y="0"/>
            <a:ext cx="11624876" cy="6858029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76"/>
          </a:p>
        </p:txBody>
      </p:sp>
      <p:sp>
        <p:nvSpPr>
          <p:cNvPr id="3" name="TextBox 2"/>
          <p:cNvSpPr txBox="1"/>
          <p:nvPr/>
        </p:nvSpPr>
        <p:spPr>
          <a:xfrm>
            <a:off x="1033554" y="2454025"/>
            <a:ext cx="10124892" cy="493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789" b="1">
                <a:solidFill>
                  <a:srgbClr val="FFFFFF"/>
                </a:solidFill>
                <a:latin typeface="Calibri"/>
              </a:rPr>
              <a:t>Fluxograma Detalhado do Processamento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554" y="3166518"/>
            <a:ext cx="10124892" cy="261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76" b="1">
                <a:solidFill>
                  <a:srgbClr val="C9A227"/>
                </a:solidFill>
                <a:latin typeface="Calibri"/>
              </a:rPr>
              <a:t>WaterWeave-Tietê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554" y="3541514"/>
            <a:ext cx="10124892" cy="188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66" i="1">
                <a:solidFill>
                  <a:srgbClr val="B8CCDE"/>
                </a:solidFill>
                <a:latin typeface="Calibri"/>
              </a:rPr>
              <a:t>Da fonte bruta à tabela final — arquitetura Medallion (Bronze/Silver/Gold)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554" y="6333035"/>
            <a:ext cx="10124892" cy="159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2">
                <a:solidFill>
                  <a:srgbClr val="889199"/>
                </a:solidFill>
                <a:latin typeface="Calibri"/>
              </a:rPr>
              <a:t>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37581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3562" y="0"/>
            <a:ext cx="11624876" cy="68580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76"/>
          </a:p>
        </p:txBody>
      </p:sp>
      <p:pic>
        <p:nvPicPr>
          <p:cNvPr id="3" name="Picture 2" descr="fluxograma_dados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61" y="112500"/>
            <a:ext cx="11399879" cy="598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06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9807" y="959934"/>
            <a:ext cx="1128932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 smtClean="0"/>
              <a:t>Bronze </a:t>
            </a:r>
            <a:r>
              <a:rPr lang="pt-BR" dirty="0"/>
              <a:t>— espelha, não decide nada</a:t>
            </a:r>
          </a:p>
          <a:p>
            <a:pPr algn="just"/>
            <a:r>
              <a:rPr lang="pt-BR" dirty="0"/>
              <a:t>Cada fonte vira sua própria tabela, na granularidade mais fina possível (uma linha por leitura/medição). A única coisa que essa camada adiciona é proveniência (fonte_tipo, arquivo de origem). Nenhuma agregação, nenhuma comparação entre fontes, nenhuma decisão real-vs-simulado acontece aqui — é puro "isso é exatamente o que a fonte disse".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Silver — organiza, ainda sem misturar</a:t>
            </a:r>
          </a:p>
          <a:p>
            <a:pPr algn="just"/>
            <a:r>
              <a:rPr lang="pt-BR" dirty="0"/>
              <a:t>Aqui </a:t>
            </a:r>
            <a:r>
              <a:rPr lang="pt-BR" dirty="0" smtClean="0"/>
              <a:t>tudo </a:t>
            </a:r>
            <a:r>
              <a:rPr lang="pt-BR" dirty="0"/>
              <a:t>é normalizado (mesmas colunas, mesmas unidades, independente de qual fonte alimentou aquela tabela) e a granularidade sobe um degrau (ex.: por posto/mês, em vez de por leitura individual). É também onde correções pontuais acontecem — tratamento de censura analítica da CETESB, conversão de coordenadas, filtro das 32 estações do eixo do Tietê. Mas real e simulado continuam em tabelas separadas — silver.qualidade_cetesb (real) e silver.qualidade (simulado) nunca se tocam nesta camada.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Gold — agrega, escolhe e preenche lacunas</a:t>
            </a:r>
          </a:p>
          <a:p>
            <a:pPr algn="just"/>
            <a:r>
              <a:rPr lang="pt-BR" dirty="0"/>
              <a:t>É a única camada onde três coisas acontecem de fato: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Agregação final na granularidade que os modelos/dashboard consomem (trecho × ano).</a:t>
            </a:r>
          </a:p>
          <a:p>
            <a:pPr algn="just"/>
            <a:r>
              <a:rPr lang="pt-BR" dirty="0"/>
              <a:t>A escolha real-vs-simulado, linha a linha, com prioridade sempre para o real.</a:t>
            </a:r>
          </a:p>
          <a:p>
            <a:pPr algn="just"/>
            <a:r>
              <a:rPr lang="pt-BR" dirty="0"/>
              <a:t>A imputação controlada (uso do solo, vazão/chuva) — preenchendo lacunas pequenas com o valor real mais próximo, nunca inventando um valor novo.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19807" y="378042"/>
            <a:ext cx="4924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cada camada faz com os dados</a:t>
            </a:r>
          </a:p>
        </p:txBody>
      </p:sp>
    </p:spTree>
    <p:extLst>
      <p:ext uri="{BB962C8B-B14F-4D97-AF65-F5344CB8AC3E}">
        <p14:creationId xmlns:p14="http://schemas.microsoft.com/office/powerpoint/2010/main" val="3908396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Bronze — espelho fiel, formato longo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6692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1200" cap="none" spc="0" normalizeH="0" baseline="0" noProof="0">
                <a:ln>
                  <a:noFill/>
                </a:ln>
                <a:solidFill>
                  <a:srgbClr val="B8CCD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bronze.cetesb — uma linha por medição individual, sem qualquer agregação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codigo_ponto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parametro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resultado_numerico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unidade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fonte_tipo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CRUM02500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1978-01-01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DBO (5, 20)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mg/L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PCAB02100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1978-01-01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DBO (5, 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mg/L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657600"/>
            <a:ext cx="10881360" cy="21945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82219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F5F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o Bronze faz: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Nenhuma agregação, nenhuma comparação entre fontes e nenhuma decisão real-vs-simulado acontece aqui. Cada fonte vira sua própria tabela, intocada — a única coisa que o Bronze acrescenta é a coluna de proveniência (fonte_tipo).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8891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WaterWeave-Tietê — Tabelas por camada e vantagens da imputação</a:t>
            </a:r>
          </a:p>
        </p:txBody>
      </p:sp>
    </p:spTree>
    <p:extLst>
      <p:ext uri="{BB962C8B-B14F-4D97-AF65-F5344CB8AC3E}">
        <p14:creationId xmlns:p14="http://schemas.microsoft.com/office/powerpoint/2010/main" val="363995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Silver — duas tabelas separadas, mesmo trecho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6692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1200" cap="none" spc="0" normalizeH="0" baseline="0" noProof="0">
                <a:ln>
                  <a:noFill/>
                </a:ln>
                <a:solidFill>
                  <a:srgbClr val="B8CCD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 e simulado já têm o mesmo schema, mas ainda não se tocam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55321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ano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dbo_mg_l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od_mg_l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fonte_tipo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1978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33.66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27.04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4.49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1979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29.12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1980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28.31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14.49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3.78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33756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2F9E4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silver.qualidade_cetesb (REAL) — Alto Tietê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508760"/>
          <a:ext cx="53492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ano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dbo_mg_l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od_mg_l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fonte_tipo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1940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86.0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1.96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7.63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simulado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1941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82.0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1.78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7.69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simulado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333756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0" normalizeH="0" baseline="0" noProof="0">
                <a:ln>
                  <a:noFill/>
                </a:ln>
                <a:solidFill>
                  <a:srgbClr val="C9A2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silver.qualidade (SIMULADO) — Alto Tietê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39"/>
            <a:ext cx="11018520" cy="192024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4142231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1F5F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o Silver faz: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79"/>
            <a:ext cx="10469880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1200" cap="none" spc="0" normalizeH="0" baseline="0" noProof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Silver normaliza o schema (mesmas colunas, mesmas unidades) e sobe a granularidade para trecho × ano — mas real e simulado continuam em tabelas totalmente separadas. Nenhuma escolha entre as duas acontece ainda.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8891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WaterWeave-Tietê — Tabelas por camada e vantagens da imputação</a:t>
            </a:r>
          </a:p>
        </p:txBody>
      </p:sp>
    </p:spTree>
    <p:extLst>
      <p:ext uri="{BB962C8B-B14F-4D97-AF65-F5344CB8AC3E}">
        <p14:creationId xmlns:p14="http://schemas.microsoft.com/office/powerpoint/2010/main" val="3642292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Gold — onde a escolha realmente acontece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6692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1200" cap="none" spc="0" normalizeH="0" baseline="0" noProof="0">
                <a:ln>
                  <a:noFill/>
                </a:ln>
                <a:solidFill>
                  <a:srgbClr val="B8CCD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gold.feature_store_ml_anual — achado real: uma lacuna de medição em 2021–2022, não só nas bordas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554480"/>
          <a:ext cx="101498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ano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fonte_tipo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% agropecuária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imputado?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26.5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29.9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simulado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26.5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28.3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simulado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26.1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DF6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13.4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observado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25.3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E4F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005840" y="4343400"/>
            <a:ext cx="10149840" cy="169164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0160" y="450799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Achado real: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892040"/>
            <a:ext cx="9601200" cy="1033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1200" cap="none" spc="0" normalizeH="0" baseline="0" noProof="0">
                <a:ln>
                  <a:noFill/>
                </a:ln>
                <a:solidFill>
                  <a:srgbClr val="5A1F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CETESB simplesmente não teve estação reportando para o Alto Tietê em 2021 e 2022 — não é um defeito do pipeline, é uma lacuna real da fonte, no MEIO da série, não só no início. O mecanismo de combinação capturou isso automaticamente, sem tratamento caso a caso.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8891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WaterWeave-Tietê — Tabelas por camada e vantagens da imputação</a:t>
            </a:r>
          </a:p>
        </p:txBody>
      </p:sp>
    </p:spTree>
    <p:extLst>
      <p:ext uri="{BB962C8B-B14F-4D97-AF65-F5344CB8AC3E}">
        <p14:creationId xmlns:p14="http://schemas.microsoft.com/office/powerpoint/2010/main" val="3274091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144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Gold — imputação nas bordas da série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66928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1" u="none" strike="noStrike" kern="1200" cap="none" spc="0" normalizeH="0" baseline="0" noProof="0">
                <a:ln>
                  <a:noFill/>
                </a:ln>
                <a:solidFill>
                  <a:srgbClr val="B8CCD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de área agropecuária, Alto Tietê — janela real do MapBiomas é 1985–2023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1645920"/>
          <a:ext cx="9235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Ano(s)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% agropecuária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imputado?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Explicação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1976–1984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34,24 (repetido)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True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Emprestado do 1º ano real (1985)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1985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34,24 (1º valor real)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Início da janela real MapBiomas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1986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33,28 (já muda)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False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Segundo ano real — a série volta a se mover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1463040" y="4206240"/>
            <a:ext cx="9235440" cy="18288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437083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5F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 que isso é seguro: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754880"/>
            <a:ext cx="8686800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Repare: de 1985 para 1986 a mudança real foi de menos de 1 ponto percentual — exatamente por isso repetir o valor de 1985 para trás (1976–1984) é uma aposta de baixo risco. Não existe uma “seca de uso do solo” que tornaria essa repetição perigosa.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8891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WaterWeave-Tietê — Tabelas por camada e vantagens da imputação</a:t>
            </a:r>
          </a:p>
        </p:txBody>
      </p:sp>
    </p:spTree>
    <p:extLst>
      <p:ext uri="{BB962C8B-B14F-4D97-AF65-F5344CB8AC3E}">
        <p14:creationId xmlns:p14="http://schemas.microsoft.com/office/powerpoint/2010/main" val="2389671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10515600" cy="2651760"/>
          </a:xfrm>
          <a:prstGeom prst="roundRect">
            <a:avLst/>
          </a:prstGeom>
          <a:solidFill>
            <a:srgbClr val="163A54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C9A22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Resumo em uma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34640"/>
            <a:ext cx="9601200" cy="1059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Bronze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espelha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Silver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organiza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misturar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 é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só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no Gold que a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escolha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real-vs-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simulado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 a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imputação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acontecem</a:t>
            </a:r>
            <a:r>
              <a:rPr kumimoji="0" sz="1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sempre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marcadas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sempre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reversíveis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e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desenhadas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para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não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perder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dado real de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treino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causa de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uma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lacuna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pequena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outra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coluna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8891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WaterWeave-Tietê</a:t>
            </a:r>
          </a:p>
        </p:txBody>
      </p:sp>
    </p:spTree>
    <p:extLst>
      <p:ext uri="{BB962C8B-B14F-4D97-AF65-F5344CB8AC3E}">
        <p14:creationId xmlns:p14="http://schemas.microsoft.com/office/powerpoint/2010/main" val="3044635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Os 4 conceitos, sem ambiguidade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8CCDE"/>
                </a:solidFill>
                <a:latin typeface="Calibri"/>
              </a:rPr>
              <a:t>Real · Imputado · Simulado · Combinação — definições lado a lado</a:t>
            </a:r>
          </a:p>
        </p:txBody>
      </p:sp>
      <p:pic>
        <p:nvPicPr>
          <p:cNvPr id="6" name="Picture 5" descr="diagrama_conceitos_real_sim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36" y="1097280"/>
            <a:ext cx="10796222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WaterWeave-Tietê — Real, Simulado e Imputado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A distinção que mais gera confusão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4297680"/>
          </a:xfrm>
          <a:prstGeom prst="roundRect">
            <a:avLst/>
          </a:prstGeom>
          <a:solidFill>
            <a:srgbClr val="E8F0FA"/>
          </a:solidFill>
          <a:ln w="222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5FA8"/>
                </a:solidFill>
                <a:latin typeface="Calibri"/>
              </a:rPr>
              <a:t>IMPUTADO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Usa um valor REAL de um ano/período próximo, repetido para cobrir uma lacuna PEQUENA (limitado a poucos anos).
O número em si é medição de verdade — só está “emprestado” no tempo.
Marcado com uma coluna própria (ex.: pct_agropecuaria_imputado).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94960" cy="4297680"/>
          </a:xfrm>
          <a:prstGeom prst="roundRect">
            <a:avLst/>
          </a:prstGeom>
          <a:solidFill>
            <a:srgbClr val="FDF6E0"/>
          </a:solidFill>
          <a:ln w="222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9A227"/>
                </a:solidFill>
                <a:latin typeface="Calibri"/>
              </a:rPr>
              <a:t>SIMULADO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1A1A1A"/>
                </a:solidFill>
                <a:latin typeface="Calibri"/>
              </a:rPr>
              <a:t>Constrói um valor NOVO com regras/tendências do projeto, porque não existe nenhuma medição real por perto — nem para emprestar.
É a única categoria onde o número foi genuinamente estimado, não medido.
Marcado com fonte_tipo = “simulado”.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55697A"/>
                </a:solidFill>
                <a:latin typeface="Calibri"/>
              </a:rPr>
              <a:t>Os dois nunca são tratados como equivalentes pelo pipeline — cada um tem sua própria coluna-flag.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WaterWeave-Tietê — Real, Simulado e Imputado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6335" y="234607"/>
            <a:ext cx="99136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 que o dado </a:t>
            </a:r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“simulado” 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não compromete a confiabilidade dos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184" y="1156230"/>
            <a:ext cx="1125415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600" dirty="0" smtClean="0"/>
              <a:t>1</a:t>
            </a:r>
            <a:r>
              <a:rPr lang="pt-BR" sz="1600" dirty="0"/>
              <a:t>. Ele nunca fica escondido. Toda linha carrega uma flag de proveniência (fonte_tipo ou _imputado). Quem analisa pode sempre filtrar e reproduzir a análise só com dado real, se quiser — a informação não é perdida, é preservada explicitamente.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2. O simulado fica nas bordas, não no centro da evidência. No caso da qualidade da água, ele cobre só antes de 1978 (pré-CETESB) e depois de 2024 — a janela real (1978–2024, quase 50 anos) é a que sustenta praticamente todo achado científico do projeto.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3. Os próprios modelos já isolam isso, por padrão. O treino de produção usa só fonte_tipo == "observado" a menos que sobrem poucos anos reais (e nesse caso há um aviso explícito no log). As métricas de teste são reportadas separadas por fonte (mae_teste_observado vs. mae_teste_simulado) — então nunca existe um número de desempenho "contaminado" sem que isso apareça.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4. O papel do simulado é dar continuidade histórica, não gerar descoberta. Ele existe para o ABM e o dashboard terem uma linha de base contínua desde 1940 (para cenários/visualização) — os achados publicáveis (drivers via SHAP, validação walk-forward) são construídos sobre a janela real, com o método explicitamente declarado.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5. A imputação é ainda mais conservadora que o simulado. Ela nunca cria um número novo — só repete um valor real vizinho, com limite de anos (2 para vazão/chuva, 10 para uso do solo). O risco de viés é pequeno e restrito às bordas da série.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 smtClean="0"/>
              <a:t>A presença </a:t>
            </a:r>
            <a:r>
              <a:rPr lang="pt-BR" sz="1600" dirty="0"/>
              <a:t>de dado simulado não é uma falha </a:t>
            </a:r>
            <a:r>
              <a:rPr lang="pt-BR" sz="1600" dirty="0" smtClean="0"/>
              <a:t>escondida, </a:t>
            </a:r>
            <a:r>
              <a:rPr lang="pt-BR" sz="1600" dirty="0"/>
              <a:t>é uma decisão de engenharia documentada, com rastreabilidade total. O que de fato comprometeria a confiabilidade seria tratar simulado como se fosse real sem avisar; e é exatamente isso que a arquitetura do projeto foi desenhada para impedir.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60396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Exemplo real: IQA do Alto Tietê ao longo do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8CCDE"/>
                </a:solidFill>
                <a:latin typeface="Calibri"/>
              </a:rPr>
              <a:t>1940–2025 — onde cada classificação se aplica, de verdade</a:t>
            </a:r>
          </a:p>
        </p:txBody>
      </p:sp>
      <p:pic>
        <p:nvPicPr>
          <p:cNvPr id="6" name="Picture 5" descr="diagrama_linha_tempo_exemp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1371600"/>
            <a:ext cx="11460173" cy="41253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55697A"/>
                </a:solidFill>
                <a:latin typeface="Calibri"/>
              </a:rPr>
              <a:t>A mesma lógica (real → imputado nas bordas → simulado onde não há nada por perto) se repete em toda variável do projeto.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WaterWeave-Tietê — Real, Simulado e Imputado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Em qual camada a escolha realmente acontece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8CCDE"/>
                </a:solidFill>
                <a:latin typeface="Calibri"/>
              </a:rPr>
              <a:t>Bronze e Silver mantêm real e simulado separados — a decisão só ocorre no Gold</a:t>
            </a:r>
          </a:p>
        </p:txBody>
      </p:sp>
      <p:pic>
        <p:nvPicPr>
          <p:cNvPr id="6" name="Picture 5" descr="diagrama_camadas_combin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956" y="1234440"/>
            <a:ext cx="9103783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WaterWeave-Tietê — Real, Simulado e Imputado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1" dirty="0">
                <a:solidFill>
                  <a:srgbClr val="0F2E44"/>
                </a:solidFill>
                <a:latin typeface="Calibri"/>
              </a:rPr>
              <a:t>1</a:t>
            </a:r>
            <a:endParaRPr kumimoji="0" sz="2200" b="1" i="0" u="none" strike="noStrike" kern="1200" cap="none" spc="0" normalizeH="0" baseline="0" noProof="0" dirty="0">
              <a:ln>
                <a:noFill/>
              </a:ln>
              <a:solidFill>
                <a:srgbClr val="0F2E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22860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que a imputação traz de vantagem, concretamente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3617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F5F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Evita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descartar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linhas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treino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inteiras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causa de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uma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coluna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treino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dropna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imputação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todo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intervalo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1976–1984 e 2024–2025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seria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perdido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só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causa do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do solo,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mesmo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com IQA real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disponível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just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F5F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Corrige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uma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desigualdade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real entre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trechos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documentado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próprio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código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tratamento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~27% dos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anos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do Alto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Tietê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ficariam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vazão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 ~10% do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Baixo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Tietê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penalizando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trechos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com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pior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cobertura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instrumentação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não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com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pior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qualidade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água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just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F5F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É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uma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aposta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baixo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risco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do solo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muda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devagar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isso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limite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é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maior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(10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anos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do que para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vazão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chuva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(2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anos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), que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variam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verdade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um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para outro.</a:t>
            </a:r>
          </a:p>
          <a:p>
            <a:pPr marL="0" marR="0" lvl="0" indent="0" algn="just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F5F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Mantém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as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séries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temporais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contínuas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lags 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médias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móveis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(iqa_lag1a, iqa_media_movel_5a)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quebrariam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em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cascata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houvesse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buracos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no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meio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série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anual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das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preditoras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exógenas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just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1F5FA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● 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5. Nada é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irreversível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escondido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0F2E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flag “_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imputado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”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permite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qualquer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pesquisador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reproduzir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análise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só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com dado 100% real, se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quiser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um teste de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sensibilidade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mais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conservador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88919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WaterWeave-Tietê — Tabelas por camada e vantagens da imputação</a:t>
            </a:r>
          </a:p>
        </p:txBody>
      </p:sp>
    </p:spTree>
    <p:extLst>
      <p:ext uri="{BB962C8B-B14F-4D97-AF65-F5344CB8AC3E}">
        <p14:creationId xmlns:p14="http://schemas.microsoft.com/office/powerpoint/2010/main" val="3385257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 dirty="0" err="1">
                <a:solidFill>
                  <a:srgbClr val="FFFFFF"/>
                </a:solidFill>
                <a:latin typeface="Calibri"/>
              </a:rPr>
              <a:t>Resumo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em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4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frases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9728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16002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227"/>
                </a:solidFill>
                <a:latin typeface="Calibri"/>
              </a:rPr>
              <a:t>REAL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600200"/>
            <a:ext cx="7863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D8E4F0"/>
                </a:solidFill>
                <a:latin typeface="Calibri"/>
              </a:rPr>
              <a:t>medição de fato, de uma fonte externa confiável. O projeto só leu o dado.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51760"/>
            <a:ext cx="109728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227"/>
                </a:solidFill>
                <a:latin typeface="Calibri"/>
              </a:rPr>
              <a:t>IMPUTADO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7863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D8E4F0"/>
                </a:solidFill>
                <a:latin typeface="Calibri"/>
              </a:rPr>
              <a:t>valor REAL de um ano próximo, repetido para cobrir uma lacuna pequena. Nunca inventa nada novo.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703320"/>
            <a:ext cx="109728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70332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227"/>
                </a:solidFill>
                <a:latin typeface="Calibri"/>
              </a:rPr>
              <a:t>SIMULADO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03320"/>
            <a:ext cx="7863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D8E4F0"/>
                </a:solidFill>
                <a:latin typeface="Calibri"/>
              </a:rPr>
              <a:t>valor sintético, construído pelo projeto só quando não há nenhuma medição real por perto.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754880"/>
            <a:ext cx="109728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75488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C9A227"/>
                </a:solidFill>
                <a:latin typeface="Calibri"/>
              </a:rPr>
              <a:t>COMBINAÇÃO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754880"/>
            <a:ext cx="7863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D8E4F0"/>
                </a:solidFill>
                <a:latin typeface="Calibri"/>
              </a:rPr>
              <a:t>a tabela final (Gold) escolhe real quando existe; simulado só entra como último recurso, linha a linha.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WaterWeave-Tietê — Real, Simulado e Imputado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1872</Words>
  <Application>Microsoft Office PowerPoint</Application>
  <PresentationFormat>Widescreen</PresentationFormat>
  <Paragraphs>207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Silva, José (J.W.)</cp:lastModifiedBy>
  <cp:revision>11</cp:revision>
  <dcterms:created xsi:type="dcterms:W3CDTF">2013-01-27T09:14:16Z</dcterms:created>
  <dcterms:modified xsi:type="dcterms:W3CDTF">2026-08-31T20:10:53Z</dcterms:modified>
  <cp:category/>
</cp:coreProperties>
</file>