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9A227"/>
                </a:solidFill>
                <a:latin typeface="Calibri"/>
              </a:rPr>
              <a:t>Apresentação Master do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46120"/>
            <a:ext cx="41148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B8CCDE"/>
                </a:solidFill>
                <a:latin typeface="Calibri"/>
              </a:rPr>
              <a:t>Pilares, algoritmos e os achados com maior potencial de publicação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89199"/>
                </a:solidFill>
                <a:latin typeface="Calibri"/>
              </a:rPr>
              <a:t>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94360" cy="548640"/>
          </a:xfrm>
          <a:prstGeom prst="round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94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5448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Calibri"/>
              </a:rPr>
              <a:t>Pilares do projeto: arquitetura de dados e proveniência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68880"/>
            <a:ext cx="594360" cy="548640"/>
          </a:xfrm>
          <a:prstGeom prst="roundRect">
            <a:avLst/>
          </a:prstGeom>
          <a:solidFill>
            <a:srgbClr val="2F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94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6888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Calibri"/>
              </a:rPr>
              <a:t>Modelagem híbrida: os algoritmos, explicados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83280"/>
            <a:ext cx="594360" cy="548640"/>
          </a:xfrm>
          <a:prstGeom prst="round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594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III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38328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Calibri"/>
              </a:rPr>
              <a:t>Resultados reais e evidências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97680"/>
            <a:ext cx="594360" cy="5486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97680"/>
            <a:ext cx="594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IV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29768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Calibri"/>
              </a:rPr>
              <a:t>Pontos com maior potencial de publicação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212080"/>
            <a:ext cx="594360" cy="548640"/>
          </a:xfrm>
          <a:prstGeom prst="roundRect">
            <a:avLst/>
          </a:prstGeom>
          <a:solidFill>
            <a:srgbClr val="55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212080"/>
            <a:ext cx="594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21208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Calibri"/>
              </a:rPr>
              <a:t>Entregáveis, limitações e próximos passos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Pilares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B8CCDE"/>
                </a:solidFill>
                <a:latin typeface="Calibri"/>
              </a:rPr>
              <a:t>Arquitetura de dados, fontes reais e proveniência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O que é o WaterWeave-Tietê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2000"/>
              </a:spcAft>
            </a:pPr>
            <a:r>
              <a:rPr sz="1500" b="1">
                <a:solidFill>
                  <a:srgbClr val="1F5FA8"/>
                </a:solidFill>
              </a:rPr>
              <a:t>●  </a:t>
            </a:r>
            <a:r>
              <a:rPr sz="1700">
                <a:solidFill>
                  <a:srgbClr val="1A1A1A"/>
                </a:solidFill>
                <a:latin typeface="Calibri"/>
              </a:rPr>
              <a:t>Plataforma híbrida (biofísico + Machine Learning + Modelo Baseado em Agentes) para gestão da qualidade da água em três trechos do Rio Tietê — Alto, Médio e Baixo.</a:t>
            </a:r>
          </a:p>
          <a:p>
            <a:pPr>
              <a:lnSpc>
                <a:spcPct val="122000"/>
              </a:lnSpc>
              <a:spcAft>
                <a:spcPts val="2000"/>
              </a:spcAft>
            </a:pPr>
            <a:r>
              <a:rPr sz="1500" b="1">
                <a:solidFill>
                  <a:srgbClr val="1F5FA8"/>
                </a:solidFill>
              </a:rPr>
              <a:t>●  </a:t>
            </a:r>
            <a:r>
              <a:rPr sz="1700">
                <a:solidFill>
                  <a:srgbClr val="1A1A1A"/>
                </a:solidFill>
                <a:latin typeface="Calibri"/>
              </a:rPr>
              <a:t>Ancorada em dados reais e multi-fonte sempre que possível: CETESB, ANA/SNIRH, MapBiomas, Landsat, Copernicus CDS — com proveniência explícita em cada linha de cada tabela.</a:t>
            </a:r>
          </a:p>
          <a:p>
            <a:pPr>
              <a:lnSpc>
                <a:spcPct val="122000"/>
              </a:lnSpc>
              <a:spcAft>
                <a:spcPts val="2000"/>
              </a:spcAft>
            </a:pPr>
            <a:r>
              <a:rPr sz="1500" b="1">
                <a:solidFill>
                  <a:srgbClr val="1F5FA8"/>
                </a:solidFill>
              </a:rPr>
              <a:t>●  </a:t>
            </a:r>
            <a:r>
              <a:rPr sz="1700">
                <a:solidFill>
                  <a:srgbClr val="1A1A1A"/>
                </a:solidFill>
                <a:latin typeface="Calibri"/>
              </a:rPr>
              <a:t>Objetivo científico central: identificar quais fatores realmente determinam a qualidade da água em cada trecho, e como simular cenários de política pública de forma defensável.</a:t>
            </a:r>
          </a:p>
        </p:txBody>
      </p:sp>
      <p:pic>
        <p:nvPicPr>
          <p:cNvPr id="6" name="Picture 5" descr="Infografico_Bacia_Rio_Ti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094" y="3977639"/>
            <a:ext cx="2527506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Arquitetura de Dados — do bruto ao Gold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B8CCDE"/>
                </a:solidFill>
                <a:latin typeface="Calibri"/>
              </a:rPr>
              <a:t>Medallion (Bronze/Silver/Gold) — todas as fontes e tabelas reais do projeto</a:t>
            </a:r>
          </a:p>
        </p:txBody>
      </p:sp>
      <p:pic>
        <p:nvPicPr>
          <p:cNvPr id="6" name="Picture 5" descr="Fluxograma_Processamento_D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78" y="1051560"/>
            <a:ext cx="10267739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Fontes Reais Integradas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486400"/>
                <a:gridCol w="3200400"/>
              </a:tblGrid>
              <a:tr h="60089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Fonte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fornece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Cobertura real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CETESB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Qualidade da água (IQA, OD, DBO, metais) — 32 estações do eixo do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1978–2024 (com lacunas reais pontuais)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ANA/SNIRH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Vazão e chuva, API pública em tempo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2000–2026, +1.762 linhas vazão / +6.355 chuva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MapBiomas Coleção 9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Uso e cobertura do solo, via Google Earth Engine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1985–2023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Landsat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Sensoriamento remoto histórico (NDVI, temperatura, turbidez-proxy)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1984–presente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Copernicus CDS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Reanálise climática (ERA5) e projeções futuras (CMIP6)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Histórico + cenários SSP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DAEE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Vazão/chuva histórica por posto (arquivos locais)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Complementa ANA/SNIRH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Proveniência: Real, Imputado, Simulado e Combinação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B8CCDE"/>
                </a:solidFill>
                <a:latin typeface="Calibri"/>
              </a:rPr>
              <a:t>O diferencial de rigor metodológico do projeto</a:t>
            </a:r>
          </a:p>
        </p:txBody>
      </p:sp>
      <p:pic>
        <p:nvPicPr>
          <p:cNvPr id="6" name="Picture 5" descr="Diagrama_Conceitos_Real_Simulado_Impu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29" y="1051560"/>
            <a:ext cx="11175037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Onde a Escolha Real/Simulado Realmente Acontece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B8CCDE"/>
                </a:solidFill>
                <a:latin typeface="Calibri"/>
              </a:rPr>
              <a:t>Bronze e Silver mantêm tudo separado — a decisão só ocorre no Gold</a:t>
            </a:r>
          </a:p>
        </p:txBody>
      </p:sp>
      <p:pic>
        <p:nvPicPr>
          <p:cNvPr id="6" name="Picture 5" descr="Diagrama_Camadas_Combinacao_Real_Simu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211" y="1051560"/>
            <a:ext cx="9341273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Modelagem Híbrida: os Algoritmos, Explicados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B8CCDE"/>
                </a:solidFill>
                <a:latin typeface="Calibri"/>
              </a:rPr>
              <a:t>Biofísico, Modelo Baseado em Agentes e Machine Learning — o que cada um faz e por quê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46304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0F2E44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Algoritmo — Balanço Hídrico + Streeter-Phelps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Balanço hídrico (bucket linear) — </a:t>
            </a:r>
            <a:r>
              <a:rPr sz="1550">
                <a:solidFill>
                  <a:srgbClr val="1A1A1A"/>
                </a:solidFill>
                <a:latin typeface="Calibri"/>
              </a:rPr>
              <a:t>um reservatório conceitual acumula chuva e perde água por um coeficiente de escoamento fixo; a saída (índice de escoamento) é convertida em vazão simulada (m³/s) por um fator calibrado contra a MÉDIA HISTÓRICA REAL do trecho.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Streeter-Phelps clássico — </a:t>
            </a:r>
            <a:r>
              <a:rPr sz="1550">
                <a:solidFill>
                  <a:srgbClr val="1A1A1A"/>
                </a:solidFill>
                <a:latin typeface="Calibri"/>
              </a:rPr>
              <a:t>equação diferencial de 1925 que modela a queda e recuperação do oxigênio dissolvido rio abaixo de um lançamento de poluente, em função da vazão e da carga orgânica lançada.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Por que este algoritmo — </a:t>
            </a:r>
            <a:r>
              <a:rPr sz="1550">
                <a:solidFill>
                  <a:srgbClr val="1A1A1A"/>
                </a:solidFill>
                <a:latin typeface="Calibri"/>
              </a:rPr>
              <a:t>é o único capaz de responder “e se um novo lançamento poluidor acontecer aqui?” de forma determinística — o ML não responde isso, só descreve o passado/presente.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937760"/>
            <a:ext cx="10972800" cy="1280160"/>
          </a:xfrm>
          <a:prstGeom prst="roundRect">
            <a:avLst/>
          </a:prstGeom>
          <a:solidFill>
            <a:srgbClr val="FDF6E0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08406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C9A227"/>
                </a:solidFill>
                <a:latin typeface="Calibri"/>
              </a:rPr>
              <a:t>Transparência: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46811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2E44"/>
                </a:solidFill>
                <a:latin typeface="Calibri"/>
              </a:rPr>
              <a:t>Limitação assumida: coeficientes de literatura, não calibrados especificamente para o Tietê — documentado no próprio código, não escondido.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46304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0F2E44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Algoritmo — Modelo Baseado em Agentes (ABM)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9728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5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Framework Mesa — </a:t>
            </a:r>
            <a:r>
              <a:rPr sz="1500">
                <a:solidFill>
                  <a:srgbClr val="1A1A1A"/>
                </a:solidFill>
                <a:latin typeface="Calibri"/>
              </a:rPr>
              <a:t>biblioteca Python padrão para simulação multi-agente, escolhida por ser madura, testada e permitir agentes com estado próprio interagindo passo a passo (mês a mês).</a:t>
            </a:r>
          </a:p>
          <a:p>
            <a:pPr>
              <a:lnSpc>
                <a:spcPct val="122000"/>
              </a:lnSpc>
              <a:spcAft>
                <a:spcPts val="15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5 agentes por trecho — </a:t>
            </a:r>
            <a:r>
              <a:rPr sz="1500">
                <a:solidFill>
                  <a:srgbClr val="1A1A1A"/>
                </a:solidFill>
                <a:latin typeface="Calibri"/>
              </a:rPr>
              <a:t>Comitê de Bacia, Indústria, Agricultor, Concessionária e Poder Público — cada um ajusta uma alavanca real (outorga, carga poluidora, saneamento, fiscalização) com base no estado ecológico observado no mês anterior.</a:t>
            </a:r>
          </a:p>
          <a:p>
            <a:pPr>
              <a:lnSpc>
                <a:spcPct val="122000"/>
              </a:lnSpc>
              <a:spcAft>
                <a:spcPts val="15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Acoplamento com o biofísico — </a:t>
            </a:r>
            <a:r>
              <a:rPr sz="1500">
                <a:solidFill>
                  <a:srgbClr val="1A1A1A"/>
                </a:solidFill>
                <a:latin typeface="Calibri"/>
              </a:rPr>
              <a:t>a cada passo, as decisões dos agentes alimentam o balanço hídrico e o Streeter-Phelps, que devolvem o novo estado da água — fechando o ciclo de retroalimentação.</a:t>
            </a:r>
          </a:p>
          <a:p>
            <a:pPr>
              <a:lnSpc>
                <a:spcPct val="122000"/>
              </a:lnSpc>
              <a:spcAft>
                <a:spcPts val="15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Calibração climática real — </a:t>
            </a:r>
            <a:r>
              <a:rPr sz="1500">
                <a:solidFill>
                  <a:srgbClr val="1A1A1A"/>
                </a:solidFill>
                <a:latin typeface="Calibri"/>
              </a:rPr>
              <a:t>o cenário “Mudança Climática Extrema” usa um fator recalculado contra ERA5/CMIP6 reais (fator = 0,982), substituindo um proxy fixo de -25% usado antes da calibração.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46304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0F2E44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Algoritmo — Random Forest (Breiman, 2001)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5697A"/>
                </a:solidFill>
                <a:latin typeface="Calibri"/>
              </a:rPr>
              <a:t>Um ensemble de árvores de decisão treinadas sobre amostras bootstrap dos dados, com a previsão final sendo a média das árvores — reduz variância sem exigir suposições de linearidade.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3040" y="2286000"/>
          <a:ext cx="92354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120640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Hiperparâmetro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Grade de busca (GridSearchCV, 5-fold)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Número de árvores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100 · 200 · 300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Profundidade máxima da árvore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3 · 4 · 6 · sem limite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Mínimo de amostras por folha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1 · 2 · 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Fração de variáveis por divisão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raiz quadrada · 50% ·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" y="4709160"/>
            <a:ext cx="10972800" cy="155448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85546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5FA8"/>
                </a:solidFill>
                <a:latin typeface="Calibri"/>
              </a:rPr>
              <a:t>Decisão de arquitetura: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3951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0F2E44"/>
                </a:solidFill>
                <a:latin typeface="Calibri"/>
              </a:rPr>
              <a:t>Um modelo INDEPENDENTE por trecho (não um único modelo com o trecho como variável) — testado e confirmado: um modelo geral teve R² negativo em toda transferência cruzada Alto↔Médio↔Baixo.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46304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0F2E44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Algoritmo — Validação: Split Temporal + Walk-Forward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Split temporal — </a:t>
            </a:r>
            <a:r>
              <a:rPr sz="1550">
                <a:solidFill>
                  <a:srgbClr val="1A1A1A"/>
                </a:solidFill>
                <a:latin typeface="Calibri"/>
              </a:rPr>
              <a:t>treino com anos &lt; 2015, teste com anos ≥ 2015 — nunca embaralhado, para o modelo nunca “ver o futuro” durante o treino.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Walk-forward (janela expansível) — </a:t>
            </a:r>
            <a:r>
              <a:rPr sz="1550">
                <a:solidFill>
                  <a:srgbClr val="1A1A1A"/>
                </a:solidFill>
                <a:latin typeface="Calibri"/>
              </a:rPr>
              <a:t>11 partições por trecho/alvo, testando ano a ano — revela estabilidade temporal, não só uma média agregada.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Baseline de persistência — </a:t>
            </a:r>
            <a:r>
              <a:rPr sz="1550">
                <a:solidFill>
                  <a:srgbClr val="1A1A1A"/>
                </a:solidFill>
                <a:latin typeface="Calibri"/>
              </a:rPr>
              <a:t>“previsto = valor do ano anterior”, no MESMO conjunto de teste — todo erro é lido contra esse baseline.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65760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2194560"/>
                <a:gridCol w="2194560"/>
                <a:gridCol w="2743200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Trecho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Alvo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MAE médio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MAE baseline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% partições melhor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Alto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6,41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5,93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36,4%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Alto Tietê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OD (mg/L)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0,29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0,24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36,4%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Médio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7,09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10,27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81,8%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Médio Tietê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OD (mg/L)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0,48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0,50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45,5%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Baixo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4,84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5,63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63,6%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Baixo Tietê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OD (mg/L)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0,37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0,56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63,6%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46304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0F2E44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Algoritmo — SHAP (Lundberg &amp; Lee, 2017)</a:t>
            </a:r>
          </a:p>
        </p:txBody>
      </p:sp>
      <p:pic>
        <p:nvPicPr>
          <p:cNvPr id="6" name="Picture 5" descr="fig2_esquema_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234440"/>
            <a:ext cx="11277293" cy="234567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4343400"/>
            <a:ext cx="10972800" cy="1874519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48970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5FA8"/>
                </a:solidFill>
                <a:latin typeface="Calibri"/>
              </a:rPr>
              <a:t>Por que SHAP, não só importância nativa: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73752"/>
            <a:ext cx="1042416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0F2E44"/>
                </a:solidFill>
                <a:latin typeface="Calibri"/>
              </a:rPr>
              <a:t>SHAP atribui, para cada previsão individual, quanto cada variável empurrou o resultado para cima ou para baixo em relação à média — diferente da importância nativa de árvore (impureza), permite ranquear E ler a direção do efeito. Um modelo diagnóstico separado (sem os lags do próprio alvo) isola os determinantes exógenos da autocorrelação temporal.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Resultados Reais e Evidências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B8CCDE"/>
                </a:solidFill>
                <a:latin typeface="Calibri"/>
              </a:rPr>
              <a:t>O que os dados realmente mostram, com números verificados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Achado Real: Determinante Dominante do IQA (Médio Tietê)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B8CCDE"/>
                </a:solidFill>
                <a:latin typeface="Calibri"/>
              </a:rPr>
              <a:t>Gráfico SHAP real, com sinal e direção do efeito</a:t>
            </a:r>
          </a:p>
        </p:txBody>
      </p:sp>
      <p:pic>
        <p:nvPicPr>
          <p:cNvPr id="6" name="Picture 5" descr="fig3_middle_wq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554" y="1051560"/>
            <a:ext cx="8874586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O Determinante Dominante Muda por Trecho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B8CCDE"/>
                </a:solidFill>
                <a:latin typeface="Calibri"/>
              </a:rPr>
              <a:t>Agropecuária domina Alto/Médio Tietê; % de água domina o Baixo Tietê</a:t>
            </a:r>
          </a:p>
        </p:txBody>
      </p:sp>
      <p:pic>
        <p:nvPicPr>
          <p:cNvPr id="6" name="Picture 5" descr="fig4_crossr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344" y="1097280"/>
            <a:ext cx="8267007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Pontos com Maior Potencial de Publicação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B8CCDE"/>
                </a:solidFill>
                <a:latin typeface="Calibri"/>
              </a:rPr>
              <a:t>Achados originais, rigor metodológico e material já preparado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46304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0F2E44"/>
                </a:solidFill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Ponto Forte 1 — Determinantes Específicos por Trecho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O achado — </a:t>
            </a:r>
            <a:r>
              <a:rPr sz="1550">
                <a:solidFill>
                  <a:srgbClr val="1A1A1A"/>
                </a:solidFill>
                <a:latin typeface="Calibri"/>
              </a:rPr>
              <a:t>não existe um fator único que determina a qualidade da água do Tietê. Uso agropecuário do solo domina no Alto e Médio Tietê; a fração de área de água (reservatórios) domina no Baixo Tietê — e nos dois casos o efeito é consistentemente negativo em TODOS os anos de teste.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Por que é publicável — </a:t>
            </a:r>
            <a:r>
              <a:rPr sz="1550">
                <a:solidFill>
                  <a:srgbClr val="1A1A1A"/>
                </a:solidFill>
                <a:latin typeface="Calibri"/>
              </a:rPr>
              <a:t>poucos estudos aplicam uma análise explicável reach-by-reach numa bacia brasileira nesta escala; o achado é concreto, verificável e tem implicação direta de política (priorização por trecho, não política única para a bacia).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Já existe rascunho pronto — </a:t>
            </a:r>
            <a:r>
              <a:rPr sz="1550">
                <a:solidFill>
                  <a:srgbClr val="1A1A1A"/>
                </a:solidFill>
                <a:latin typeface="Calibri"/>
              </a:rPr>
              <a:t>artigo completo em inglês e português, estruturado no formato NeurIPS Workshop (Tackling Climate Change with ML), com 4 figuras no corpo + 5 no apêndice, todas com dado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46304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0F2E44"/>
                </a:solidFill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Ponto Forte 2 — Calibração Climática Real (ERA5/CMIP6)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O achado — </a:t>
            </a:r>
            <a:r>
              <a:rPr sz="1550">
                <a:solidFill>
                  <a:srgbClr val="1A1A1A"/>
                </a:solidFill>
                <a:latin typeface="Calibri"/>
              </a:rPr>
              <a:t>o fator de mudança climática extrema do ABM, antes um proxy fixo de -25%, foi recalculado contra ERA5 (baseline 1995–2014) vs. CMIP6 SSP5-8.5 (2040–2060): resultado real = 0,982 — um efeito bem menos severo que o assumido antes.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Por que é publicável — </a:t>
            </a:r>
            <a:r>
              <a:rPr sz="1550">
                <a:solidFill>
                  <a:srgbClr val="1A1A1A"/>
                </a:solidFill>
                <a:latin typeface="Calibri"/>
              </a:rPr>
              <a:t>além do resultado, o processo de integração revelou 3 divergências reais entre a documentação da API Copernicus e seu comportamento real (formato de arquivo, nomenclatura de experimento CMIP6, perda silenciosa de variável) — um achado técnico reprodutível, útil para outros grupos que usem a mesma API.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Ângulo de publicação — </a:t>
            </a:r>
            <a:r>
              <a:rPr sz="1550">
                <a:solidFill>
                  <a:srgbClr val="1A1A1A"/>
                </a:solidFill>
                <a:latin typeface="Calibri"/>
              </a:rPr>
              <a:t>nota técnica / lessons-learned sobre integração de dados climáticos reais em modelos de simulação ambiental.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46304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0F2E44"/>
                </a:solidFill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Ponto Forte 3 — Auditoria de ML como Estudo de 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O achado — </a:t>
            </a:r>
            <a:r>
              <a:rPr sz="1550">
                <a:solidFill>
                  <a:srgbClr val="1A1A1A"/>
                </a:solidFill>
                <a:latin typeface="Calibri"/>
              </a:rPr>
              <a:t>4 problemas metodológicos reais foram identificados e corrigidos: vazamento temporal (lag mensal ≈ o próprio alvo), generalização espacial ruim (R² negativo entre trechos), ruído estrutural na vazão do Baixo Tietê, e SHAP dominado por autocorrelação.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Por que é publicável — </a:t>
            </a:r>
            <a:r>
              <a:rPr sz="1550">
                <a:solidFill>
                  <a:srgbClr val="1A1A1A"/>
                </a:solidFill>
                <a:latin typeface="Calibri"/>
              </a:rPr>
              <a:t>é um exemplo concreto e replicável de como cada um desses erros clássicos de ML em séries temporais ambientais se manifesta e é corrigido — material didático real, não hipotético.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Ângulo de publicação — </a:t>
            </a:r>
            <a:r>
              <a:rPr sz="1550">
                <a:solidFill>
                  <a:srgbClr val="1A1A1A"/>
                </a:solidFill>
                <a:latin typeface="Calibri"/>
              </a:rPr>
              <a:t>estudo de caso metodológico / reprodutibilidade em ML aplicado a monitoramento ambiental.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46304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0F2E44"/>
                </a:solidFill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Ponto Forte 4 — Framework de Proveniência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O achado — </a:t>
            </a:r>
            <a:r>
              <a:rPr sz="1550">
                <a:solidFill>
                  <a:srgbClr val="1A1A1A"/>
                </a:solidFill>
                <a:latin typeface="Calibri"/>
              </a:rPr>
              <a:t>um framework de 4 categorias (real, imputado, simulado, combinação) aplicado de forma consistente do Bronze ao Gold, com flags explícitas em cada linha — permitindo reproduzir qualquer análise só com dado 100% real.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Por que é publicável — </a:t>
            </a:r>
            <a:r>
              <a:rPr sz="1550">
                <a:solidFill>
                  <a:srgbClr val="1A1A1A"/>
                </a:solidFill>
                <a:latin typeface="Calibri"/>
              </a:rPr>
              <a:t>a maioria dos pipelines ambientais mistura dado observado e estimado sem marcação explícita; este projeto documenta e resolve isso de forma sistemática, com exemplo real (lacuna de medição 2021–2022 no Alto Tietê capturada automaticamente).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Ângulo de publicação — </a:t>
            </a:r>
            <a:r>
              <a:rPr sz="1550">
                <a:solidFill>
                  <a:srgbClr val="1A1A1A"/>
                </a:solidFill>
                <a:latin typeface="Calibri"/>
              </a:rPr>
              <a:t>arquitetura de dados / engenharia de dados para pesquisa ambiental híbrida (real + simulado).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Entregáveis, Limitações e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B8CCDE"/>
                </a:solidFill>
                <a:latin typeface="Calibri"/>
              </a:rPr>
              <a:t>O que já existe, o que é assumido, o que vem a seguir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Entregáveis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5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Dashboard web (Streamlit) — </a:t>
            </a:r>
            <a:r>
              <a:rPr sz="1500">
                <a:solidFill>
                  <a:srgbClr val="1A1A1A"/>
                </a:solidFill>
                <a:latin typeface="Calibri"/>
              </a:rPr>
              <a:t>5 páginas — KPIs, mapa interativo, séries históricas, cenários futuros (com animação 3D do ABM), comparativo de cenários.</a:t>
            </a:r>
          </a:p>
          <a:p>
            <a:pPr>
              <a:lnSpc>
                <a:spcPct val="122000"/>
              </a:lnSpc>
              <a:spcAft>
                <a:spcPts val="15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Artigo científico (EN + PT) — </a:t>
            </a:r>
            <a:r>
              <a:rPr sz="1500">
                <a:solidFill>
                  <a:srgbClr val="1A1A1A"/>
                </a:solidFill>
                <a:latin typeface="Calibri"/>
              </a:rPr>
              <a:t>estrutura NeurIPS Workshop, pronto para submissão, com figuras e tabelas 100% reais.</a:t>
            </a:r>
          </a:p>
          <a:p>
            <a:pPr>
              <a:lnSpc>
                <a:spcPct val="122000"/>
              </a:lnSpc>
              <a:spcAft>
                <a:spcPts val="15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3 relatórios técnicos completos — </a:t>
            </a:r>
            <a:r>
              <a:rPr sz="1500">
                <a:solidFill>
                  <a:srgbClr val="1A1A1A"/>
                </a:solidFill>
                <a:latin typeface="Calibri"/>
              </a:rPr>
              <a:t>EDA (28 seções), Auditoria de Engenharia de Dados, Algoritmos (21 capítulos didáticos).</a:t>
            </a:r>
          </a:p>
          <a:p>
            <a:pPr>
              <a:lnSpc>
                <a:spcPct val="122000"/>
              </a:lnSpc>
              <a:spcAft>
                <a:spcPts val="15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Infográfico da bacia — </a:t>
            </a:r>
            <a:r>
              <a:rPr sz="1500">
                <a:solidFill>
                  <a:srgbClr val="1A1A1A"/>
                </a:solidFill>
                <a:latin typeface="Calibri"/>
              </a:rPr>
              <a:t>traçado real do rio, afluentes e reservatórios (OpenStreetMap) sobre o contorno real do Estado de São Paulo.</a:t>
            </a:r>
          </a:p>
          <a:p>
            <a:pPr>
              <a:lnSpc>
                <a:spcPct val="122000"/>
              </a:lnSpc>
              <a:spcAft>
                <a:spcPts val="15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Suíte de testes automatizada — </a:t>
            </a:r>
            <a:r>
              <a:rPr sz="1500">
                <a:solidFill>
                  <a:srgbClr val="1A1A1A"/>
                </a:solidFill>
                <a:latin typeface="Calibri"/>
              </a:rPr>
              <a:t>roda a cada push via CI, cobre paridade de ingestão e todos os achados da auditoria de 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Limitações Documentadas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5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IQA — </a:t>
            </a:r>
            <a:r>
              <a:rPr sz="1500">
                <a:solidFill>
                  <a:srgbClr val="1A1A1A"/>
                </a:solidFill>
                <a:latin typeface="Calibri"/>
              </a:rPr>
              <a:t>proxy simplificado (OD + DBO), não o índice oficial CETESB/NSF-WQI de 9 parâmetros.</a:t>
            </a:r>
          </a:p>
          <a:p>
            <a:pPr>
              <a:lnSpc>
                <a:spcPct val="122000"/>
              </a:lnSpc>
              <a:spcAft>
                <a:spcPts val="15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Geometria de uso do solo — </a:t>
            </a:r>
            <a:r>
              <a:rPr sz="1500">
                <a:solidFill>
                  <a:srgbClr val="1A1A1A"/>
                </a:solidFill>
                <a:latin typeface="Calibri"/>
              </a:rPr>
              <a:t>buffer de 5 km ao redor das estações, não a bacia de drenagem real.</a:t>
            </a:r>
          </a:p>
          <a:p>
            <a:pPr>
              <a:lnSpc>
                <a:spcPct val="122000"/>
              </a:lnSpc>
              <a:spcAft>
                <a:spcPts val="15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Sem encadeamento hidrológico — </a:t>
            </a:r>
            <a:r>
              <a:rPr sz="1500">
                <a:solidFill>
                  <a:srgbClr val="1A1A1A"/>
                </a:solidFill>
                <a:latin typeface="Calibri"/>
              </a:rPr>
              <a:t>cada trecho é modelado de forma independente no ABM.</a:t>
            </a:r>
          </a:p>
          <a:p>
            <a:pPr>
              <a:lnSpc>
                <a:spcPct val="122000"/>
              </a:lnSpc>
              <a:spcAft>
                <a:spcPts val="15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Coeficientes não calibrados — </a:t>
            </a:r>
            <a:r>
              <a:rPr sz="1500">
                <a:solidFill>
                  <a:srgbClr val="1A1A1A"/>
                </a:solidFill>
                <a:latin typeface="Calibri"/>
              </a:rPr>
              <a:t>balanço hídrico e Streeter-Phelps usam valores de literatura.</a:t>
            </a:r>
          </a:p>
          <a:p>
            <a:pPr>
              <a:lnSpc>
                <a:spcPct val="122000"/>
              </a:lnSpc>
              <a:spcAft>
                <a:spcPts val="15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CETESB incremental — </a:t>
            </a:r>
            <a:r>
              <a:rPr sz="1500">
                <a:solidFill>
                  <a:srgbClr val="1A1A1A"/>
                </a:solidFill>
                <a:latin typeface="Calibri"/>
              </a:rPr>
              <a:t>atualização pós-2024 é um stub deliberado — sem API programática documentada disponível hoje.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Encadeamento entre trechos — </a:t>
            </a:r>
            <a:r>
              <a:rPr sz="1550">
                <a:solidFill>
                  <a:srgbClr val="1A1A1A"/>
                </a:solidFill>
                <a:latin typeface="Calibri"/>
              </a:rPr>
              <a:t>propagar vazão/carga poluidora Alto → Médio → Baixo no ABM.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Submissão do artigo — </a:t>
            </a:r>
            <a:r>
              <a:rPr sz="1550">
                <a:solidFill>
                  <a:srgbClr val="1A1A1A"/>
                </a:solidFill>
                <a:latin typeface="Calibri"/>
              </a:rPr>
              <a:t>finalizar formatação e submeter ao NeurIPS Workshop “Tackling Climate Change with ML”.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Calibração de sensoriamento remoto — </a:t>
            </a:r>
            <a:r>
              <a:rPr sz="1550">
                <a:solidFill>
                  <a:srgbClr val="1A1A1A"/>
                </a:solidFill>
                <a:latin typeface="Calibri"/>
              </a:rPr>
              <a:t>validar os índices espectrais do Landsat contra medição in situ antes de usá-los como preditora de ML.</a:t>
            </a:r>
          </a:p>
          <a:p>
            <a:pPr>
              <a:lnSpc>
                <a:spcPct val="122000"/>
              </a:lnSpc>
              <a:spcAft>
                <a:spcPts val="1800"/>
              </a:spcAft>
            </a:pPr>
            <a:r>
              <a:rPr sz="1350" b="1">
                <a:solidFill>
                  <a:srgbClr val="1F5FA8"/>
                </a:solidFill>
              </a:rPr>
              <a:t>●  </a:t>
            </a:r>
            <a:r>
              <a:rPr b="1" sz="1550">
                <a:solidFill>
                  <a:srgbClr val="0F2E44"/>
                </a:solidFill>
                <a:latin typeface="Calibri"/>
              </a:rPr>
              <a:t>Repetir a análise SHAP — </a:t>
            </a:r>
            <a:r>
              <a:rPr sz="1550">
                <a:solidFill>
                  <a:srgbClr val="1A1A1A"/>
                </a:solidFill>
                <a:latin typeface="Calibri"/>
              </a:rPr>
              <a:t>à medida que mais anos de dado real se acumulam, testar se os rankings de determinantes por trecho são estáveis no tempo.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89199"/>
                </a:solidFill>
                <a:latin typeface="Calibri"/>
              </a:rPr>
              <a:t>WaterWeave-Tietê — Apresentação Master do Projeto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10515600" cy="2651760"/>
          </a:xfrm>
          <a:prstGeom prst="roundRect">
            <a:avLst/>
          </a:prstGeom>
          <a:solidFill>
            <a:srgbClr val="163A54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3317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227"/>
                </a:solidFill>
                <a:latin typeface="Calibri"/>
              </a:rPr>
              <a:t>Em uma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Um pipeline de dados reais, transparente sobre o que é medido e o que é estimado, alimentando três algoritmos complementares — e já produzindo achados originais, reproduzíveis e prontos para publicação.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89199"/>
                </a:solidFill>
                <a:latin typeface="Calibri"/>
              </a:rPr>
              <a:t>WaterWeave-Tietê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