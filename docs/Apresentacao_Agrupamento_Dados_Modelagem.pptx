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Como os Dados são Agrupados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no Processo de Modelagem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46120"/>
            <a:ext cx="384048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Explicação em linguagem simples — sem jargão técnico prévio necessário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89199"/>
                </a:solidFill>
                <a:latin typeface="Calibri"/>
              </a:rPr>
              <a:t>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227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A ideia central, em uma frase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9966960" cy="210312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514600"/>
            <a:ext cx="905256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0F2E44"/>
                </a:solidFill>
                <a:latin typeface="Calibri"/>
              </a:rPr>
              <a:t>Os modelos não usam o dado bruto diretamente. Cada medição individual passa por um “funil” de agrupamentos sucessivos — cada etapa resume um pouco mais o dado da etapa anterior — até virar uma única linha por trecho do rio, por ano, que é o que o modelo realmente usa para aprender.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889199"/>
                </a:solidFill>
                <a:latin typeface="Calibri"/>
              </a:rPr>
              <a:t>WaterWeave-Tietê — Processo de Modelagem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227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28016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O funil de agrupamento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60350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8CCDE"/>
                </a:solidFill>
                <a:latin typeface="Calibri"/>
              </a:rPr>
              <a:t>Do dado bruto até a linha que o modelo usa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419273" cy="2468880"/>
          </a:xfrm>
          <a:prstGeom prst="roundRect">
            <a:avLst/>
          </a:prstGeom>
          <a:solidFill>
            <a:srgbClr val="FDF6E0"/>
          </a:solidFill>
          <a:ln w="222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50008"/>
            <a:ext cx="24192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F5FA8"/>
                </a:solidFill>
                <a:latin typeface="Calibr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14495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Medição bruta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566160"/>
            <a:ext cx="219981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5697A"/>
                </a:solidFill>
                <a:latin typeface="Calibri"/>
              </a:rPr>
              <a:t>1 linha = 1 estação,
1 dia, 1 parâmetro</a:t>
            </a:r>
          </a:p>
        </p:txBody>
      </p:sp>
      <p:sp>
        <p:nvSpPr>
          <p:cNvPr id="11" name="Chevron 10"/>
          <p:cNvSpPr/>
          <p:nvPr/>
        </p:nvSpPr>
        <p:spPr>
          <a:xfrm>
            <a:off x="2922193" y="3182112"/>
            <a:ext cx="502920" cy="402336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5113" y="2148840"/>
            <a:ext cx="2419273" cy="2468880"/>
          </a:xfrm>
          <a:prstGeom prst="roundRect">
            <a:avLst/>
          </a:prstGeom>
          <a:solidFill>
            <a:srgbClr val="E8F0FA"/>
          </a:solidFill>
          <a:ln w="222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5113" y="2350008"/>
            <a:ext cx="24192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F5FA8"/>
                </a:solidFill>
                <a:latin typeface="Calibri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2273" y="3017520"/>
            <a:ext cx="214495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Por posto/mês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4841" y="3566160"/>
            <a:ext cx="219981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5697A"/>
                </a:solidFill>
                <a:latin typeface="Calibri"/>
              </a:rPr>
              <a:t>1 linha = 1 estação,
1 mês (média)</a:t>
            </a:r>
          </a:p>
        </p:txBody>
      </p:sp>
      <p:sp>
        <p:nvSpPr>
          <p:cNvPr id="16" name="Chevron 15"/>
          <p:cNvSpPr/>
          <p:nvPr/>
        </p:nvSpPr>
        <p:spPr>
          <a:xfrm>
            <a:off x="5844387" y="3182112"/>
            <a:ext cx="502920" cy="402336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2148840"/>
            <a:ext cx="2419273" cy="2468880"/>
          </a:xfrm>
          <a:prstGeom prst="roundRect">
            <a:avLst/>
          </a:prstGeom>
          <a:solidFill>
            <a:srgbClr val="E8F0FA"/>
          </a:solidFill>
          <a:ln w="222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7307" y="2350008"/>
            <a:ext cx="24192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F5FA8"/>
                </a:solidFill>
                <a:latin typeface="Calibr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017520"/>
            <a:ext cx="214495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Por trecho/ano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035" y="3566160"/>
            <a:ext cx="219981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5697A"/>
                </a:solidFill>
                <a:latin typeface="Calibri"/>
              </a:rPr>
              <a:t>1 linha = 1 trecho,
1 ano (junta tudo)</a:t>
            </a:r>
          </a:p>
        </p:txBody>
      </p:sp>
      <p:sp>
        <p:nvSpPr>
          <p:cNvPr id="21" name="Chevron 20"/>
          <p:cNvSpPr/>
          <p:nvPr/>
        </p:nvSpPr>
        <p:spPr>
          <a:xfrm>
            <a:off x="8766581" y="3182112"/>
            <a:ext cx="502920" cy="402336"/>
          </a:xfrm>
          <a:prstGeom prst="chevron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69501" y="2148840"/>
            <a:ext cx="2419273" cy="2468880"/>
          </a:xfrm>
          <a:prstGeom prst="roundRect">
            <a:avLst/>
          </a:prstGeom>
          <a:solidFill>
            <a:srgbClr val="E4F3E8"/>
          </a:solidFill>
          <a:ln w="22225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9501" y="2350008"/>
            <a:ext cx="24192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F5FA8"/>
                </a:solidFill>
                <a:latin typeface="Calibri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6661" y="3017520"/>
            <a:ext cx="214495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50" b="1" i="0">
                <a:solidFill>
                  <a:srgbClr val="0F2E44"/>
                </a:solidFill>
                <a:latin typeface="Calibri"/>
              </a:rPr>
              <a:t>Matriz do modelo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9229" y="3566160"/>
            <a:ext cx="219981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5697A"/>
                </a:solidFill>
                <a:latin typeface="Calibri"/>
              </a:rPr>
              <a:t>preditoras + alvo,
pronta pra treinar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2920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55697A"/>
                </a:solidFill>
                <a:latin typeface="Calibri"/>
              </a:rPr>
              <a:t>Entra muita medição individual, sai uma linha resumida por (trecho, ano) — o modelo nunca vê o dado bruto diretamente.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889199"/>
                </a:solidFill>
                <a:latin typeface="Calibri"/>
              </a:rPr>
              <a:t>WaterWeave-Tietê — Processo de Modelagem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Da medição individual ao posto/mês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sz="1700">
                <a:solidFill>
                  <a:srgbClr val="1A1A1A"/>
                </a:solidFill>
                <a:latin typeface="Calibri"/>
              </a:rPr>
              <a:t>Cada fonte real chega como uma leitura pontual: a CETESB mede oxigênio dissolvido e DBO num ponto do rio, numa data específica; a ANA mede vazão e chuva num posto, também numa data específica.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sz="1700">
                <a:solidFill>
                  <a:srgbClr val="1A1A1A"/>
                </a:solidFill>
                <a:latin typeface="Calibri"/>
              </a:rPr>
              <a:t>Todas as leituras de um mesmo posto, num mesmo mês, viram um único número: a MÉDIA mensal daquele posto.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sz="1700">
                <a:solidFill>
                  <a:srgbClr val="1A1A1A"/>
                </a:solidFill>
                <a:latin typeface="Calibri"/>
              </a:rPr>
              <a:t>Exemplo: todas as leituras de vazão de um posto em março de 2010 → 1 valor único: a vazão média daquele posto em março de 2010.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74920"/>
            <a:ext cx="10881360" cy="1051560"/>
          </a:xfrm>
          <a:prstGeom prst="roundRect">
            <a:avLst/>
          </a:prstGeom>
          <a:solidFill>
            <a:srgbClr val="FDF6E0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0F2E44"/>
                </a:solidFill>
                <a:latin typeface="Calibri"/>
              </a:rPr>
              <a:t>Vazão e chuva NÃO são fundidas num único posto: são redes físicas diferentes (um posto fluviométrico mede rio, um pluviométrico mede chuva) — misturá-las cedo demais criaria uma correspondência artificial.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889199"/>
                </a:solidFill>
                <a:latin typeface="Calibri"/>
              </a:rPr>
              <a:t>WaterWeave-Tietê — Processo de Modelagem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Dos postos individuais para o trecho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sz="1700">
                <a:solidFill>
                  <a:srgbClr val="1A1A1A"/>
                </a:solidFill>
                <a:latin typeface="Calibri"/>
              </a:rPr>
              <a:t>O rio é dividido em 3 trechos de estudo — Alto, Médio e Baixo Tietê.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sz="1700">
                <a:solidFill>
                  <a:srgbClr val="1A1A1A"/>
                </a:solidFill>
                <a:latin typeface="Calibri"/>
              </a:rPr>
              <a:t>Cada uma das 32 estações reais de monitoramento é classificada em um desses três trechos, com base na sua posição geográfica real ao longo do curso do rio.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sz="1700">
                <a:solidFill>
                  <a:srgbClr val="1A1A1A"/>
                </a:solidFill>
                <a:latin typeface="Calibri"/>
              </a:rPr>
              <a:t>A partir daí, todo posto daquele trecho é agrupado junto: a vazão do trecho num mês é a MÉDIA da vazão de todos os postos daquele trecho (o mesmo vale para chuva).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E44"/>
                </a:solidFill>
                <a:latin typeface="Calibri"/>
              </a:rPr>
              <a:t>Cobertura real de estações por trecho: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Alto Tietê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4690872"/>
            <a:ext cx="4114800" cy="292608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46451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97A"/>
                </a:solidFill>
                <a:latin typeface="Calibri"/>
              </a:rPr>
              <a:t>10 estações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Médio Tietê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5193792"/>
            <a:ext cx="8229600" cy="292608"/>
          </a:xfrm>
          <a:prstGeom prst="rect">
            <a:avLst/>
          </a:prstGeom>
          <a:solidFill>
            <a:srgbClr val="2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27080" y="514807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97A"/>
                </a:solidFill>
                <a:latin typeface="Calibri"/>
              </a:rPr>
              <a:t>20 estações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Baixo Tietê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5696712"/>
            <a:ext cx="822960" cy="2926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56509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5697A"/>
                </a:solidFill>
                <a:latin typeface="Calibri"/>
              </a:rPr>
              <a:t>2 estações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5697A"/>
                </a:solidFill>
                <a:latin typeface="Calibri"/>
              </a:rPr>
              <a:t>O agrupamento por trecho preserva essa diferença real de cobertura, em vez de escondê-la atrás de uma média única para o rio inteiro.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889199"/>
                </a:solidFill>
                <a:latin typeface="Calibri"/>
              </a:rPr>
              <a:t>WaterWeave-Tietê — Processo de Modelagem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De mensal para anual (e por quê)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1A1A1A"/>
                </a:solidFill>
                <a:latin typeface="Calibri"/>
              </a:rPr>
              <a:t>A qualidade da água (IQA, oxigênio dissolvido) só existe na fonte real em granularidade ANUAL — não há uma medição “de março” separada de uma “de agosto”. Por isso, vazão e chuva também são agrupadas por ANO, não por mês, batendo com a mesma granularidade da qualidade da água.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10881360" cy="306324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Por que isso importa — analogia simples: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1F1A"/>
                </a:solidFill>
                <a:latin typeface="Calibri"/>
              </a:rPr>
              <a:t>Se a qualidade da água de um ano inteiro é repetida em todos os 12 meses (porque só existe 1 valor por ano), usar “o valor do mês passado” como pista para prever o mês atual é quase sempre usar o PRÓPRIO valor que se quer prever — como decorar a resposta de uma prova em vez de aprender o conteúdo.
Agrupar por ano elimina esse atalho e corrige um problema real que existia numa versão anterior do projeto.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889199"/>
                </a:solidFill>
                <a:latin typeface="Calibri"/>
              </a:rPr>
              <a:t>WaterWeave-Tietê — Processo de Modelagem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Juntando tudo numa linha só, por (trecho, ano)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 i="0">
                <a:solidFill>
                  <a:srgbClr val="1A1A1A"/>
                </a:solidFill>
                <a:latin typeface="Calibri"/>
              </a:rPr>
              <a:t>A etapa final junta, lado a lado, todas as fontes já agrupadas por trecho/ano: qualidade da água (o alvo), vazão e chuva médias, e o uso do solo real (num raio de 5 km ao redor das estações). Resultado: uma linha por combinação de trecho e ano.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97280" y="2743200"/>
          <a:ext cx="9966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2011680"/>
                <a:gridCol w="1737360"/>
                <a:gridCol w="155448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Trecho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Ano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Vazão (m³/s)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Chuva (mm)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% urbano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</a:rPr>
                        <a:t>IQA (alvo)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</a:rPr>
                        <a:t>alto_tiete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18,4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112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56%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</a:rPr>
                        <a:t>medio_tiete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94,7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1A"/>
                          </a:solidFill>
                        </a:rPr>
                        <a:t>baixo_tiete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205,3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0%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" y="489204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889199"/>
                </a:solidFill>
                <a:latin typeface="Calibri"/>
              </a:rPr>
              <a:t>Exemplo ilustrativo (valores aproximados) — cada trecho tem sua própria linha por ano, nunca uma linha misturando dois trechos.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889199"/>
                </a:solidFill>
                <a:latin typeface="Calibri"/>
              </a:rPr>
              <a:t>WaterWeave-Tietê — Processo de Modelagem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227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Buracos no agrupamento não são “inventados” às cegas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b="1" sz="1700">
                <a:solidFill>
                  <a:srgbClr val="0F2E44"/>
                </a:solidFill>
                <a:latin typeface="Calibri"/>
              </a:rPr>
              <a:t>Vazão/chuva — </a:t>
            </a:r>
            <a:r>
              <a:rPr sz="1700">
                <a:solidFill>
                  <a:srgbClr val="1A1A1A"/>
                </a:solidFill>
                <a:latin typeface="Calibri"/>
              </a:rPr>
              <a:t>quando falta um valor real num ano, o sistema repete o último valor real conhecido do trecho, mas só por até 2 anos seguidos.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b="1" sz="1700">
                <a:solidFill>
                  <a:srgbClr val="0F2E44"/>
                </a:solidFill>
                <a:latin typeface="Calibri"/>
              </a:rPr>
              <a:t>Uso do solo — </a:t>
            </a:r>
            <a:r>
              <a:rPr sz="1700">
                <a:solidFill>
                  <a:srgbClr val="1A1A1A"/>
                </a:solidFill>
                <a:latin typeface="Calibri"/>
              </a:rPr>
              <a:t>limite maior (10 anos), porque uso do solo muda muito mais devagar de um ano para o outro — não existe “seca de uso do solo”.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500" b="1">
                <a:solidFill>
                  <a:srgbClr val="1F5FA8"/>
                </a:solidFill>
              </a:rPr>
              <a:t>●  </a:t>
            </a:r>
            <a:r>
              <a:rPr b="1" sz="1700">
                <a:solidFill>
                  <a:srgbClr val="0F2E44"/>
                </a:solidFill>
                <a:latin typeface="Calibri"/>
              </a:rPr>
              <a:t>Transparência — </a:t>
            </a:r>
            <a:r>
              <a:rPr sz="1700">
                <a:solidFill>
                  <a:srgbClr val="1A1A1A"/>
                </a:solidFill>
                <a:latin typeface="Calibri"/>
              </a:rPr>
              <a:t>toda vez que isso acontece, uma coluna extra (`_imputado`) marca a linha como preenchida — nunca tratada como igual a uma medição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37760"/>
            <a:ext cx="10881360" cy="1188720"/>
          </a:xfrm>
          <a:prstGeom prst="roundRect">
            <a:avLst/>
          </a:prstGeom>
          <a:solidFill>
            <a:srgbClr val="E4F3E8"/>
          </a:solidFill>
          <a:ln w="19050">
            <a:solidFill>
              <a:srgbClr val="2F9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120640"/>
            <a:ext cx="102412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B5E30"/>
                </a:solidFill>
                <a:latin typeface="Calibri"/>
              </a:rPr>
              <a:t>O modelo — e quem analisa os dados depois — sempre consegue distinguir um valor medido de um valor completado.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889199"/>
                </a:solidFill>
                <a:latin typeface="Calibri"/>
              </a:rPr>
              <a:t>WaterWeave-Tietê — Processo de Modelagem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C9A227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7432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O que o modelo faz com essas linhas agrupadas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550" b="1">
                <a:solidFill>
                  <a:srgbClr val="1F5FA8"/>
                </a:solidFill>
              </a:rPr>
              <a:t>●  </a:t>
            </a:r>
            <a:r>
              <a:rPr b="1" sz="1750">
                <a:solidFill>
                  <a:srgbClr val="0F2E44"/>
                </a:solidFill>
                <a:latin typeface="Calibri"/>
              </a:rPr>
              <a:t>Um modelo por trecho — </a:t>
            </a:r>
            <a:r>
              <a:rPr sz="1750">
                <a:solidFill>
                  <a:srgbClr val="1A1A1A"/>
                </a:solidFill>
                <a:latin typeface="Calibri"/>
              </a:rPr>
              <a:t>um Alto, um Médio, um Baixo — nunca um único modelo misturando os três, porque um modelo geral generaliza mal entre trechos.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550" b="1">
                <a:solidFill>
                  <a:srgbClr val="1F5FA8"/>
                </a:solidFill>
              </a:rPr>
              <a:t>●  </a:t>
            </a:r>
            <a:r>
              <a:rPr b="1" sz="1750">
                <a:solidFill>
                  <a:srgbClr val="0F2E44"/>
                </a:solidFill>
                <a:latin typeface="Calibri"/>
              </a:rPr>
              <a:t>Separação treino/teste no tempo — </a:t>
            </a:r>
            <a:r>
              <a:rPr sz="1750">
                <a:solidFill>
                  <a:srgbClr val="1A1A1A"/>
                </a:solidFill>
                <a:latin typeface="Calibri"/>
              </a:rPr>
              <a:t>as linhas são divididas por ANO (treino até 2014, teste a partir de 2015) — nunca embaralhadas ao acaso, para o modelo não “ver o futuro” durante o treino.</a:t>
            </a: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550" b="1">
                <a:solidFill>
                  <a:srgbClr val="1F5FA8"/>
                </a:solidFill>
              </a:rPr>
              <a:t>●  </a:t>
            </a:r>
            <a:r>
              <a:rPr b="1" sz="1750">
                <a:solidFill>
                  <a:srgbClr val="0F2E44"/>
                </a:solidFill>
                <a:latin typeface="Calibri"/>
              </a:rPr>
              <a:t>Validação walk-forward — </a:t>
            </a:r>
            <a:r>
              <a:rPr sz="1750">
                <a:solidFill>
                  <a:srgbClr val="1A1A1A"/>
                </a:solidFill>
                <a:latin typeface="Calibri"/>
              </a:rPr>
              <a:t>além do split simples, o modelo é testado ano a ano, avançando a janela de treino progressivamente — revela se o desempenho é estável ou varia demais de um ano para outro.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889199"/>
                </a:solidFill>
                <a:latin typeface="Calibri"/>
              </a:rPr>
              <a:t>WaterWeave-Tietê — Processo de Modelagem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65960"/>
            <a:ext cx="10515600" cy="2926080"/>
          </a:xfrm>
          <a:prstGeom prst="roundRect">
            <a:avLst/>
          </a:prstGeom>
          <a:solidFill>
            <a:srgbClr val="163A54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945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227"/>
                </a:solidFill>
                <a:latin typeface="Calibri"/>
              </a:rPr>
              <a:t>Resumo em uma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9748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O processo de modelagem não usa o dado bruto diretamente — ele passa por um funil de agrupamentos sucessivos (posto/mês → trecho/mês → trecho/ano → linha única com todas as fontes juntas), sempre preservando a proveniência de cada número e nunca misturando trechos ou anos diferentes numa mesma decisão do modelo.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89199"/>
                </a:solidFill>
                <a:latin typeface="Calibri"/>
              </a:rPr>
              <a:t>WaterWeave-Tietê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