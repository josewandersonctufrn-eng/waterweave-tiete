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C21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 · WATER4ALL — CONTRIBUIÇÃO METODOLÓGICA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WaterWeave-Tietê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híbrida — modelo biofísico, modelo baseado em agentes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machine learning — para gestão sustentável de recursos hídricos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342351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C89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3423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1940–2025 · 86 anos de série histórica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19626" y="4343400"/>
            <a:ext cx="334304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C89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9626" y="4343400"/>
            <a:ext cx="33430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trechos: Alto · Médio · Baixo Tietê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827264" y="434340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C89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27264" y="4343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mensal contínua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técnica ao grupo de pesquisa — julho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F5F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apresentação cobre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arquitetura geral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pesquisa, os 3 trechos do rio e a visão geral da plataforma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856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da fonte bruta à Gold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3134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Medallion, fontes reais vs. simuladas, proveniência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12464"/>
            <a:ext cx="566928" cy="566928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12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6484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determinística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1056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hídrico, Streeter-Phelps e o modelo baseado em agentes (Mesa)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483864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712464"/>
            <a:ext cx="566928" cy="566928"/>
          </a:xfrm>
          <a:prstGeom prst="ellipse">
            <a:avLst/>
          </a:prstGeom>
          <a:solidFill>
            <a:srgbClr val="E078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12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36484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estatística (ML)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41056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features, treino por trecho, walk-forward, SHAP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276088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5504688"/>
            <a:ext cx="566928" cy="56692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504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4406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Extensões do roadmap de pesquisa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8978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real (CMIP6), serviços ecossistêmicos, acoplamento ML↔biofísico, co-criação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5276088"/>
            <a:ext cx="5440680" cy="1627632"/>
          </a:xfrm>
          <a:prstGeom prst="roundRect">
            <a:avLst>
              <a:gd name="adj" fmla="val 5056"/>
            </a:avLst>
          </a:prstGeom>
          <a:solidFill>
            <a:srgbClr val="F2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504688"/>
            <a:ext cx="566928" cy="566928"/>
          </a:xfrm>
          <a:prstGeom prst="ellipse">
            <a:avLst/>
          </a:prstGeom>
          <a:solidFill>
            <a:srgbClr val="1231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504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54406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engenharia e limitações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23760" y="58978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automatizados, o que o sistema NÃO faz, e conclusão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Rio Tietê, e por que um sistema híbrido?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903720" cy="4343400"/>
          </a:xfrm>
          <a:prstGeom prst="roundRect">
            <a:avLst>
              <a:gd name="adj" fmla="val 1895"/>
            </a:avLst>
          </a:prstGeom>
          <a:solidFill>
            <a:srgbClr val="F2F5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gestão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Tietê atravessa três realidades muito diferentes ao longo de ~1.100 km: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Tietê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(região metropolitana de SP, pressão urbano-industrial),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Tietê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(predominância agrícola) e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Tietê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(foz no Rio Paraná, acumula efeitos de montante).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a bacia exige entender simultaneamente o estado FÍSICO do rio, o COMPORTAMENTO dos atores que o afetam (indústria, agricultura, poder público) e o PADRÃO estatístico do histórico observado — nenhum desses três, isolado, conta a história completa.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71232" y="1691640"/>
            <a:ext cx="4160520" cy="4343400"/>
          </a:xfrm>
          <a:prstGeom prst="roundRect">
            <a:avLst>
              <a:gd name="adj" fmla="val 1978"/>
            </a:avLst>
          </a:prstGeom>
          <a:solidFill>
            <a:srgbClr val="12314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9202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(WaterWeave-Water4All)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2651760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“Como extrair relações entre o ESTADO dos ecossistemas aquáticos e a PROVISÃO DE SERVIÇOS ECOSSISTÊMICOS, integrando modelos biofísicos determinísticos e modelos baseados em dados?”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0" y="47091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 é o estudo de caso computacional dessa pergunta: 86 anos de dado real e simulado, 3 famílias de modelo, e um dashboard de cenários para stakeholders.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motivação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motores de modelagem, uma base de dados comum</a:t>
            </a:r>
            <a:endParaRPr lang="en-US" sz="2700" dirty="0"/>
          </a:p>
        </p:txBody>
      </p:sp>
      <p:pic>
        <p:nvPicPr>
          <p:cNvPr id="5" name="Image 0" descr="/sessions/ecstatic-vigilant-volta/mnt/outputs/figs/fig_modelagem_hibr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601" y="1536192"/>
            <a:ext cx="866775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plataforma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78024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DE ESTUDO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trechos do Rio Tietê (nascente → foz)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F5F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Tietê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de referência: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Salesópolis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nascente: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km (nascente)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937760"/>
            <a:ext cx="297180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metropolitana de São Paulo — maior pressão urbano-industrial da bacia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608576" y="21945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08576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Tietê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08576" y="3931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de referência: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Bonita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nascente: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08576" y="4937760"/>
            <a:ext cx="297180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Predominância agrícola, reservatórios em cascata (uso hidrelétrico/irrigação)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439912" y="219456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39912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Baixo Tietê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39912" y="3931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de referência: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Itapura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nascente: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1.100 km — foz no Rio Paraná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39912" y="4937760"/>
            <a:ext cx="297180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Acumula, na simulação, o desvio de carga poluidora herdado de montante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trechos do Rio Tietê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dados: Bronze → Silver → Gold</a:t>
            </a:r>
            <a:endParaRPr lang="en-US" sz="2700" dirty="0"/>
          </a:p>
        </p:txBody>
      </p:sp>
      <p:pic>
        <p:nvPicPr>
          <p:cNvPr id="5" name="Image 0" descr="/sessions/ecstatic-vigilant-volta/mnt/outputs/figs/fig_arquitetura_medal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051" y="1463040"/>
            <a:ext cx="883285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dados (Medallion)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de dados: reais (observado) vs. simuladas (fallback)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25880"/>
                <a:gridCol w="58338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Vazão/chuva — DAEE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arquivo por posto + variantes 'consolidado' mensais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Vazão/chuva — ANA/SNIRH (API)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Conector real, sem chave; backfill: +1.762 linhas de vazão, +6.355 de chuva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da água — CETESB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 pontos, ~2,4 milhões de medições reais, 1978-2024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do solo — MapBiomas (Earth Engine)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9, 1985-2023, percentual real por macro-categoria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Sensoriamento remoto — Landsat (Earth Engine)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NDVI/turbidez-proxy/temperatura de superfície históricos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 — ERA5/CMIP6 (Copernicus CDS)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/ cenário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Reanálise histórica real + projeções futuras por cenário SSP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da água/solo — planilha histórica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07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só para anos sem cobertura CETESB (pré-1978 e lacunas)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Sensoriamento remoto — planilha ilustrativa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07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Fundida com a série real, com prioridade para o dado real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9963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_fonte_tipo (observado/simulado) é propagado de Bronze até Gold — dashboard e modelos nunca tratam dado sintético como observação de campo.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dados: reais vs. simuladas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1F5F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DETERMINÍSTICA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biofísico (I): balanço hídrico mensal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1231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1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ET + Q + ΔS</a:t>
            </a:r>
            <a:pPr indent="0" marL="0">
              <a:buNone/>
            </a:pPr>
            <a:r>
              <a:rPr lang="en-US" sz="13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precipitação = evapotranspiração + escoamento + variação de armazenamento (bucket linear)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5F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5F8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escoamento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 pelo uso do solo — prioriza percentuais REAIS do MapBiomas (natural/agropecuária/urbano/água); cai para classe simulada fora de 1985-2023.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288536" y="2926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2856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3794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Evapotranspiração potencial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62856" y="4343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em 90 mm/mês (não há série própria de temperatura na Gold) — simplificação documentada, candidata a virar Penman-Monteith com ERA5.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19872" y="2926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4192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3794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escoamento → vazão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94192" y="4343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balanço produz um ÍNDICE (mm/mês), não uma vazão absoluta (exigiria área de drenagem real) — convertido em m³/s por um fator calibrado uma vez por trecho contra a vazão média HISTÓRICA REAL.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biofísico — balanço hídrico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1F5F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DETERMINÍSTICA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biofísico (II): curva de Streeter-Phelps</a:t>
            </a:r>
            <a:endParaRPr lang="en-US" sz="2700" dirty="0"/>
          </a:p>
        </p:txBody>
      </p:sp>
      <p:pic>
        <p:nvPicPr>
          <p:cNvPr id="5" name="Image 0" descr="/sessions/ecstatic-vigilant-volta/mnt/outputs/figs/fig_streeter_phel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0978"/>
            <a:ext cx="7178040" cy="3869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572768"/>
            <a:ext cx="3913632" cy="4892040"/>
          </a:xfrm>
          <a:prstGeom prst="roundRect">
            <a:avLst>
              <a:gd name="adj" fmla="val 2336"/>
            </a:avLst>
          </a:prstGeom>
          <a:solidFill>
            <a:srgbClr val="F2F5F7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55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clássica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219456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déficit de OD a jusante de um lançamento de DBO decai por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desoxigenação (kd)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cresce de volta por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reaeração (kr)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0,23 /dia   (DBO doméstica/mista)
kr = 0,40 /dia   (rio de médio porte)
OD saturação = 9,08 mg/L (20°C)
</a:t>
            </a:r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típicos de literatura — </a:t>
            </a:r>
            <a:pPr indent="0" marL="0">
              <a:lnSpc>
                <a:spcPct val="128000"/>
              </a:lnSpc>
              <a:buNone/>
            </a:pPr>
            <a:r>
              <a:rPr lang="en-US" sz="1200" b="1" i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calibrados</a:t>
            </a:r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Tietê especificamente (exigiria campanhas de campo fora do escopo do projeto).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biofísico — Streeter-Phelps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DETERMINÍSTICA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baseado em agentes (Mesa) — 5 papéis por trecho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= 1 mês. Os agentes observam o estado ecológico do mês ANTERIOR e ajustam parâmetros de decisão (outorga, carga industrial, carga difusa) antes do biofísico rodar o mês corrente.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6245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sobre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de ajuste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Comitê de Bacia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outorga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Aperta captação quando OD crítico/sério; relaxa quando OD bom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Público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Fiscalização/multa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 quando estado ecológico ruim; sinaliza a Indústria no mesmo passo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Indústria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industrial lançada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 ~1%/mês; reduz 15% se multada no mesmo passo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Agricultor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difusa (agroquímicos)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 sob pressão regulatória + IQA em estado crítico/sério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Concessionária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 estresse hídrico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Sinaliza quando vazão simulada &lt; captação necessária (não altera o rio)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há causalidade invertida dentro do mesmo passo: agentes decidem sobre o estado JÁ CONHECIDO do mês anterior, não sobre o estado que eles mesmos ainda vão produzir.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— agentes e regras de decisão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DETERMINÍSTICA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Conectividade espacial: o rio deixou de ser 3 simulações isoladas</a:t>
            </a:r>
            <a:endParaRPr lang="en-US" sz="2700" dirty="0"/>
          </a:p>
        </p:txBody>
      </p:sp>
      <p:pic>
        <p:nvPicPr>
          <p:cNvPr id="5" name="Image 0" descr="/sessions/ecstatic-vigilant-volta/mnt/outputs/figs/fig_conectividade_espa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7010"/>
            <a:ext cx="11274552" cy="45098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— conectividade espacial entre trechos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59152" cy="310896"/>
          </a:xfrm>
          <a:prstGeom prst="roundRect">
            <a:avLst>
              <a:gd name="adj" fmla="val 23529"/>
            </a:avLst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granularidade mensal para anual — corrigindo um vazamento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FBEFE5"/>
          </a:solidFill>
          <a:ln w="12700">
            <a:solidFill>
              <a:srgbClr val="E07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45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de auditoria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 mensal original, IQA/OD são o mesmo valor anual repetido nos 12 meses do ano. Isso fazia “lag de 1 mês” ser quase sempre igual ao próprio alvo — o modelo, na prática, copiava um valor já conhecido.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532120" cy="297180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adotada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Granularidade </a:t>
            </a:r>
            <a:pPr indent="0" marL="0">
              <a:lnSpc>
                <a:spcPct val="132000"/>
              </a:lnSpc>
              <a:buNone/>
            </a:pPr>
            <a:r>
              <a:rPr lang="en-US" sz="118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(trecho × ano), sem repetição
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Lags em anos (lag1a/2a/3a) + média móvel 5a
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</a:t>
            </a:r>
            <a:pPr indent="0" marL="0">
              <a:lnSpc>
                <a:spcPct val="132000"/>
              </a:lnSpc>
              <a:buNone/>
            </a:pPr>
            <a:r>
              <a:rPr lang="en-US" sz="118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SEPARADOS por trecho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(generalização cruzada testada: R² de -0,13 a -5,31 ao transferir entre trechos)
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Treino restrito a fonte_tipo == “observado” por padrão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199632" y="3063240"/>
            <a:ext cx="5532120" cy="297180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Preditoras (anuais)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395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vazão média (exceto Baixo Tietê — série estruturalmente inconsistente)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média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natural / agropecuária / urbano-industrial / água (MapBiomas real)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de IQA e OD (1a, 2a, 3a) + média móvel 5a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engenharia de features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59152" cy="310896"/>
          </a:xfrm>
          <a:prstGeom prst="roundRect">
            <a:avLst>
              <a:gd name="adj" fmla="val 23529"/>
            </a:avLst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 por trecho e validação walk-forward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(trecho × alvo), com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(5-fold, grade de n_estimators/max_depth/min_samples_leaf/max_features) e split treino/teste por ANO (corte em 2015) — nunca aleatório, para não vazar futuro no passado.</a:t>
            </a:r>
            <a:endParaRPr lang="en-US" sz="1250" dirty="0"/>
          </a:p>
        </p:txBody>
      </p:sp>
      <p:pic>
        <p:nvPicPr>
          <p:cNvPr id="6" name="Image 0" descr="/sessions/ecstatic-vigilant-volta/mnt/outputs/figs/fig_walk_for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733" y="2148840"/>
            <a:ext cx="8621486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treino e validação walk-forward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59152" cy="310896"/>
          </a:xfrm>
          <a:prstGeom prst="roundRect">
            <a:avLst>
              <a:gd name="adj" fmla="val 23529"/>
            </a:avLst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— validação walk-forward (11 folds, 2015-2025)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828800"/>
                <a:gridCol w="1828800"/>
                <a:gridCol w="1920240"/>
                <a:gridCol w="185623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(persistência)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folds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superam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(mg/L)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(mg/L)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Tietê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(mg/L)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2F5F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257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 de persistência é o preditor trivial “valor do ano anterior”. Onde o RandomForest reduz o MAE em ≥5% sobre esse baseline (Médio e Baixo Tietê, na maioria dos folds), há evidência de que o modelo agrega algo além da autocorrelação da série — não apenas no Alto Tietê, onde o ganho é mais fraco (36,4% dos folds).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resultados quantitativos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59152" cy="310896"/>
          </a:xfrm>
          <a:prstGeom prst="roundRect">
            <a:avLst>
              <a:gd name="adj" fmla="val 23529"/>
            </a:avLst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Interpretabilidade: SHAP — previsão vs. leitura causal-adjacente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Tietê · IQA — modelo de PRODUÇÃO (com lags do próprio alvo)</a:t>
            </a:r>
            <a:endParaRPr lang="en-US" sz="1150" dirty="0"/>
          </a:p>
        </p:txBody>
      </p:sp>
      <p:pic>
        <p:nvPicPr>
          <p:cNvPr id="6" name="Image 0" descr="/sessions/ecstatic-vigilant-volta/mnt/WEB_TIETE2/data/models/shap/medio_tiete_iqa_shap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1847088"/>
            <a:ext cx="46329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Tietê · IQA — modelo de DRIVERS (sem lags do alvo)</a:t>
            </a:r>
            <a:endParaRPr lang="en-US" sz="1150" dirty="0"/>
          </a:p>
        </p:txBody>
      </p:sp>
      <p:pic>
        <p:nvPicPr>
          <p:cNvPr id="8" name="Image 1" descr="/sessions/ecstatic-vigilant-volta/mnt/WEB_TIETE2/data/models/shap/medio_tiete_iqa_drivers_shap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738" y="2148840"/>
            <a:ext cx="4508205" cy="2423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55080" y="4709160"/>
            <a:ext cx="5303520" cy="1508760"/>
          </a:xfrm>
          <a:prstGeom prst="roundRect">
            <a:avLst>
              <a:gd name="adj" fmla="val 5455"/>
            </a:avLst>
          </a:prstGeom>
          <a:solidFill>
            <a:srgbClr val="F2F5F7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0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dois modelos SHAP: 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vazamento, o lag de 1 ano domina o SHAP por ser, genuinamente, a feature mais forte numa série autocorrelacionada — ótimo para PREVISÃO, inútil para perguntar “o que reduz a poluição”. O modelo de drivers (ano, vazão, chuva, uso do solo — sem lags) isola esse sinal causal-adjacente. Nunca usado em produção.</a:t>
            </a:r>
            <a:endParaRPr lang="en-US" sz="103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interpretabilidade (SHAP)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785616" cy="310896"/>
          </a:xfrm>
          <a:prstGeom prst="roundRect">
            <a:avLst>
              <a:gd name="adj" fmla="val 23529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ROADMAP · ITEM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 real: ERA5 (reanálise) + CMIP6 (projeções)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903720" cy="4663440"/>
          </a:xfrm>
          <a:prstGeom prst="roundRect">
            <a:avLst>
              <a:gd name="adj" fmla="val 1961"/>
            </a:avLst>
          </a:prstGeom>
          <a:solidFill>
            <a:srgbClr val="F2F5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Padrão: calibração em lote, leitura síncrona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calibração exige rede + token CDS — indisponível no boot do Streamlit em produção. Por isso NUNCA roda ao vivo no dashboard: um script em lote grava um JSON pequeno (fator_clima_cmip6.json), lido de forma síncrona por models.abm.clima_real — mesmo espírito do padrão “.joblib” dos modelos de ML.
</a:t>
            </a:r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reais ao rodar contra a CDS pela primeira vez:
</a:t>
            </a:r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t2m/tp do ERA5 vêm em arquivos NetCDF separados, horários diferentes
</a:t>
            </a:r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do experimento CMIP6 precisa de underscore (ssp5_8_5, não ssp585)
</a:t>
            </a:r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pedir temperatura+precipitação juntas faz a CDS descartar a precipitação em silêncio
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71232" y="1627632"/>
            <a:ext cx="4160520" cy="4663440"/>
          </a:xfrm>
          <a:prstGeom prst="roundRect">
            <a:avLst>
              <a:gd name="adj" fmla="val 2198"/>
            </a:avLst>
          </a:prstGeom>
          <a:solidFill>
            <a:srgbClr val="12314A"/>
          </a:solidFill>
          <a:ln/>
        </p:spPr>
      </p:sp>
      <p:sp>
        <p:nvSpPr>
          <p:cNvPr id="9" name="Text 7"/>
          <p:cNvSpPr/>
          <p:nvPr/>
        </p:nvSpPr>
        <p:spPr>
          <a:xfrm>
            <a:off x="7845552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45552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fator_clima =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45552" y="26517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845552" y="3657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historical 1995-2014 vs. projeção SSP5-8.5 2040-2060 (modelo mpi_esm1_2_lr)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45552" y="4434840"/>
            <a:ext cx="3337560" cy="0"/>
          </a:xfrm>
          <a:prstGeom prst="line">
            <a:avLst/>
          </a:prstGeom>
          <a:noFill/>
          <a:ln w="12700">
            <a:solidFill>
              <a:srgbClr val="3A5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45720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menos severo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proxy fixo usado até então: chuva -25% (fator_clima = 0,75), no cenário “Mudança Climática Extrema” do ABM.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real — ERA5/CMIP6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785616" cy="310896"/>
          </a:xfrm>
          <a:prstGeom prst="roundRect">
            <a:avLst>
              <a:gd name="adj" fmla="val 23529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ROADMAP · ITEM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ecossistêmicos — 3 indicadores, deliberadamente separados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em FRAÇÃO 0-1 (“quanto da capacidade máxima está sendo entregue”) — sem compor um índice único, para não esconder trade-offs entre eles nas telas de cenário.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048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da qualidade da água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231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1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IQA / 100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REAL disponível (gold.servicos_ecossistemicos_trecho_ano)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" y="553212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2E8B57">
              <a:alpha val="1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532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simulado (fallback)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88536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4048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Provisão hídrica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62856" y="320040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231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1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min(1, vazão / captação necessária)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62856" y="38862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REAL disponível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62856" y="553212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2E8B57">
              <a:alpha val="1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5532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simulado (fallback)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119872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24048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biodiversidade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394192" y="320040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2314A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1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biótico / 100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94192" y="38862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 braço SIMULADO do ABM — turbidez/toxicidade reais não existem como série histórica longa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394192" y="553212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E0783C">
              <a:alpha val="15000"/>
            </a:srgbClr>
          </a:solidFill>
          <a:ln w="12700">
            <a:solidFill>
              <a:srgbClr val="E078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5532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simulado (cenários)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ecossistêmicos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785616" cy="310896"/>
          </a:xfrm>
          <a:prstGeom prst="roundRect">
            <a:avLst>
              <a:gd name="adj" fmla="val 23529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ROADMAP · ITEM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Acoplamento ML ↔ Biofísico: os dois braços passam a se falar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FBEFE5"/>
          </a:solidFill>
          <a:ln w="12700">
            <a:solidFill>
              <a:srgbClr val="E07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30" b="1" dirty="0">
                <a:solidFill>
                  <a:srgbClr val="E0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desta correção — </a:t>
            </a:r>
            <a:pPr indent="0" marL="0">
              <a:lnSpc>
                <a:spcPct val="124000"/>
              </a:lnSpc>
              <a:buNone/>
            </a:pPr>
            <a:r>
              <a:rPr lang="en-US" sz="1230" dirty="0">
                <a:solidFill>
                  <a:srgbClr val="5A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braços de modelagem rodavam de forma totalmente independente, sem checagem cruzada. Se ML e ABM divergem muito para o mesmo trecho/horizonte, isso é justamente o sinal que a pesquisa quer capturar — e não existia em lugar nenhum do pipeline.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5532120" cy="2926080"/>
          </a:xfrm>
          <a:prstGeom prst="roundRect">
            <a:avLst>
              <a:gd name="adj" fmla="val 3125"/>
            </a:avLst>
          </a:prstGeom>
          <a:solidFill>
            <a:srgbClr val="F2F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módulo faz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as duas trajetórias PASSO A PASSO (1..N anos), sem reconciliar/fazer ensemble — a própria divergência já é informação. Limiar de leitura prática: </a:t>
            </a:r>
            <a:pPr indent="0" marL="0">
              <a:lnSpc>
                <a:spcPct val="128000"/>
              </a:lnSpc>
              <a:buNone/>
            </a:pPr>
            <a:r>
              <a:rPr lang="en-US" sz="118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pontos de IQA</a:t>
            </a:r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(ordem de grandeza do ruído já documentado do proxy de IQA do biofísico).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199632" y="3127248"/>
            <a:ext cx="5532120" cy="2926080"/>
          </a:xfrm>
          <a:prstGeom prst="roundRect">
            <a:avLst>
              <a:gd name="adj" fmla="val 3125"/>
            </a:avLst>
          </a:prstGeom>
          <a:solidFill>
            <a:srgbClr val="F2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 — âncoras de tempo diferentes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3952" y="37033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8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ancorado no último ano com dado REAL de qualidade da água. </a:t>
            </a:r>
            <a:pPr indent="0" marL="0">
              <a:lnSpc>
                <a:spcPct val="128000"/>
              </a:lnSpc>
              <a:buNone/>
            </a:pPr>
            <a:r>
              <a:rPr lang="en-US" sz="1180" b="1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</a:t>
            </a:r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ancorado em HOJE. Os dois anos-âncora normalmente NÃO coincidem — por isso a comparação é por PASSO relativo, com ambas as datas de referência expostas (ano_civil_ml, ano_civil_biofisico) para quem for auditar.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 ML ↔ Biofísico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785616" cy="310896"/>
          </a:xfrm>
          <a:prstGeom prst="roundRect">
            <a:avLst>
              <a:gd name="adj" fmla="val 23529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ROADMAP · ITEM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Co-criação com stakeholders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24912" cy="3246120"/>
          </a:xfrm>
          <a:prstGeom prst="roundRect">
            <a:avLst>
              <a:gd name="adj" fmla="val 3356"/>
            </a:avLst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21992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stakeholder ajusta os sliders da página “Cenários Futuros” (outorga, controle de poluição, clima) e roda a simulação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00400" y="3589020"/>
            <a:ext cx="100584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19272" y="1965960"/>
            <a:ext cx="2724912" cy="3246120"/>
          </a:xfrm>
          <a:prstGeom prst="roundRect">
            <a:avLst>
              <a:gd name="adj" fmla="val 3356"/>
            </a:avLst>
          </a:prstGeom>
          <a:solidFill>
            <a:srgbClr val="F2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5304" y="2221992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7872" y="2926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47872" y="33832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a proposta (nome, autor, justificativa) — persistida como JSON versionado em data/cenarios_propostos/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062472" y="3589020"/>
            <a:ext cx="100584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81344" y="1965960"/>
            <a:ext cx="2724912" cy="3246120"/>
          </a:xfrm>
          <a:prstGeom prst="roundRect">
            <a:avLst>
              <a:gd name="adj" fmla="val 3356"/>
            </a:avLst>
          </a:prstGeom>
          <a:solidFill>
            <a:srgbClr val="F2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37376" y="2221992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9944" y="2926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9944" y="33832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participante abre a lista de “Propostas da comunidade” na mesma página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924544" y="3589020"/>
            <a:ext cx="100584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43416" y="1965960"/>
            <a:ext cx="2724912" cy="3246120"/>
          </a:xfrm>
          <a:prstGeom prst="roundRect">
            <a:avLst>
              <a:gd name="adj" fmla="val 3356"/>
            </a:avLst>
          </a:prstGeom>
          <a:solidFill>
            <a:srgbClr val="F2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9448" y="2221992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5" name="Text 23"/>
          <p:cNvSpPr/>
          <p:nvPr/>
        </p:nvSpPr>
        <p:spPr>
          <a:xfrm>
            <a:off x="9299448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72016" y="2926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72016" y="33832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repõe os sliders exatamente no estado salvo (session_state + rerun) — reproduz a proposta de outro stakeholder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57200" y="5486400"/>
            <a:ext cx="11274552" cy="868680"/>
          </a:xfrm>
          <a:prstGeom prst="roundRect">
            <a:avLst>
              <a:gd name="adj" fmla="val 9474"/>
            </a:avLst>
          </a:prstGeom>
          <a:solidFill>
            <a:srgbClr val="1231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86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a pesquisa: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tangível a “co-criação com stakeholders” que a Water4All propõe — decisores, gestores e representantes de comunidades testam e comparam propostas de gestão dentro da mesma ferramenta.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Co-criação com stakeholders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6A4C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pesquisa WaterWeave-Water4All — status atual</a:t>
            </a:r>
            <a:endParaRPr lang="en-US" sz="2700" dirty="0"/>
          </a:p>
        </p:txBody>
      </p:sp>
      <p:pic>
        <p:nvPicPr>
          <p:cNvPr id="5" name="Image 0" descr="/sessions/ecstatic-vigilant-volta/mnt/outputs/figs/fig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093" y="1417320"/>
            <a:ext cx="9554766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pesquisa — síntese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27048" cy="310896"/>
          </a:xfrm>
          <a:prstGeom prst="roundRect">
            <a:avLst>
              <a:gd name="adj" fmla="val 23529"/>
            </a:avLst>
          </a:prstGeom>
          <a:solidFill>
            <a:srgbClr val="1231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de engenharia: testes automatizados como parte do método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903720" cy="4617720"/>
          </a:xfrm>
          <a:prstGeom prst="roundRect">
            <a:avLst>
              <a:gd name="adj" fmla="val 1980"/>
            </a:avLst>
          </a:prstGeom>
          <a:solidFill>
            <a:srgbClr val="F2F5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testes (pytest) em CI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6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cada push/PR para main (GitHub Actions) — cobre dois tipos de regressão:
</a:t>
            </a:r>
            <a:pPr indent="0" marL="0">
              <a:lnSpc>
                <a:spcPct val="126000"/>
              </a:lnSpc>
              <a:buNone/>
            </a:pPr>
            <a:r>
              <a:rPr lang="en-US" sz="116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Paridade do pipeline de ingestão
</a:t>
            </a:r>
            <a:pPr indent="0" marL="0">
              <a:lnSpc>
                <a:spcPct val="126000"/>
              </a:lnSpc>
              <a:buNone/>
            </a:pPr>
            <a:r>
              <a:rPr lang="en-US" sz="116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Toda fonte declarada em RAW_SOURCES precisa ter um módulo bronze_*.py que a leia de fato — nasceu de um achado real: 2,4 milhões de medições da CETESB ficaram “configuradas” e nunca foram lidas por ~1 ano de projeto.
</a:t>
            </a:r>
            <a:pPr indent="0" marL="0">
              <a:lnSpc>
                <a:spcPct val="126000"/>
              </a:lnSpc>
              <a:buNone/>
            </a:pPr>
            <a:r>
              <a:rPr lang="en-US" sz="116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Achados da auditoria de ML
</a:t>
            </a:r>
            <a:pPr indent="0" marL="0">
              <a:lnSpc>
                <a:spcPct val="126000"/>
              </a:lnSpc>
              <a:buNone/>
            </a:pPr>
            <a:r>
              <a:rPr lang="en-US" sz="1160" dirty="0">
                <a:solidFill>
                  <a:srgbClr val="33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Granularidade anual sem vazamento, separação real/simulado no treino, walk-forward sem vazar futuro no passado, SHAP diagnóstico sem lags do próprio alvo.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7571232" y="1645920"/>
            <a:ext cx="4160520" cy="4617720"/>
          </a:xfrm>
          <a:prstGeom prst="roundRect">
            <a:avLst>
              <a:gd name="adj" fmla="val 2198"/>
            </a:avLst>
          </a:prstGeom>
          <a:solidFill>
            <a:srgbClr val="12314A"/>
          </a:solidFill>
          <a:ln/>
        </p:spPr>
      </p:sp>
      <p:sp>
        <p:nvSpPr>
          <p:cNvPr id="9" name="Text 7"/>
          <p:cNvSpPr/>
          <p:nvPr/>
        </p:nvSpPr>
        <p:spPr>
          <a:xfrm>
            <a:off x="7845552" y="18470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princípio recorrente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45552" y="23317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“Real com fallback simulado”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45552" y="29260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função que mistura fonte real e simulada prioriza o dado real, cai para o simulado só quando necessário, documenta a decisão e nunca derruba a aplicação por falta de calibração/credencial.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845552" y="4617720"/>
            <a:ext cx="3337560" cy="0"/>
          </a:xfrm>
          <a:prstGeom prst="line">
            <a:avLst/>
          </a:prstGeom>
          <a:noFill/>
          <a:ln w="12700">
            <a:solidFill>
              <a:srgbClr val="3A5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47548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9F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Exemplos: qualidade_real_com_fallback_simulado, sensoriamento_real_com_fallback_ilustrativo, clima_real.fator_clima_calibrado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engenharia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072384" cy="310896"/>
          </a:xfrm>
          <a:prstGeom prst="roundRect">
            <a:avLst>
              <a:gd name="adj" fmla="val 23529"/>
            </a:avLst>
          </a:prstGeom>
          <a:solidFill>
            <a:srgbClr val="1231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CIENTÍFICA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documentadas — o que o sistema NÃO faz (ainda)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74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3317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 do ABM é um proxy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713232" y="28529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Simplificado a partir de OD/DBO — não o IQA oficial NSF/CETESB (9 parâmetros).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288536" y="1645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1874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3317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não calibrados no Tietê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544568" y="28529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Streeter-Phelps e balanço hídrico usam valores típicos de literatura, não campanhas de campo locais.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19872" y="1645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5904" y="1874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23317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propaga só carga, não vazão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375904" y="28529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trecho mantém sua vazão calibrada independentemente contra a série histórica real.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0416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449884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Biodiversidade só no braço simulado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13232" y="5020056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série histórica real longa de turbidez/toxicidade para ancorar o indicador no observado.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288536" y="381304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44568" y="40416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44568" y="449884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CETESB incremental sem API pública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4544568" y="5020056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formalizada (não lacuna esquecida) — histórico 1978-2024 é 100% real; pós-2024 depende de exportação manual.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19872" y="381304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8375904" y="40416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783C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75904" y="449884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ensemble multi-modelo CMIP6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8375904" y="5020056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fator_clima calibrado com um único modelo (mpi_esm1_2_lr) — não é consenso entre modelos climáticos.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Simplificações declaradas nos próprios módulos (não escondidas) — o objetivo é permitir que quem revisar o código saiba exatamente onde confiar mais e onde confiar menos.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documentadas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0C213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CONTRIBUIÇÕES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arquitetura replicável para acoplar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determinísticos e estatísticos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46304" cy="14630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5915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real e testado (Bronze/Silver/Gold), com proveniência real-vs-simulado propagada ponta a ponta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47288"/>
            <a:ext cx="146304" cy="14630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91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famílias de modelo — biofísico determinístico, ABM com 5 papéis de stakeholder, e ML estatístico — unificadas por uma base de dados comum, agora com validação cruzada entre elas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379976"/>
            <a:ext cx="146304" cy="14630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2245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itens do roadmap de pesquisa WaterWeave-Water4All implementados, testados e documentados: sensoriamento remoto, conectividade espacial, clima real, serviços ecossistêmicos, acoplamento ML↔biofísico e co-criação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5312664"/>
            <a:ext cx="146304" cy="14630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15721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engenharia replicável para outras bacias/domínios: calibração em lote + leitura síncrona, real-com-fallback-simulado, testes de guarda para achados de auditoria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contribuições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957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120640" cy="5120640"/>
          </a:xfrm>
          <a:prstGeom prst="roundRect">
            <a:avLst>
              <a:gd name="adj" fmla="val 50000"/>
            </a:avLst>
          </a:prstGeom>
          <a:solidFill>
            <a:srgbClr val="0C213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49808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críticas e sugestões são bem-vindas.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WaterWeave-Tietê  ·  contribuição metodológica ao projeto WaterWeave-Water4All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2026-07-27T19:35:59Z</dcterms:created>
  <dcterms:modified xsi:type="dcterms:W3CDTF">2026-07-27T19:35:59Z</dcterms:modified>
</cp:coreProperties>
</file>